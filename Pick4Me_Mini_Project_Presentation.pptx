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g_1.png"/>
          <p:cNvPicPr>
            <a:picLocks noChangeAspect="1"/>
          </p:cNvPicPr>
          <p:nvPr/>
        </p:nvPicPr>
        <p:blipFill>
          <a:blip r:embed="rId2"/>
          <a:stretch>
            <a:fillRect/>
          </a:stretch>
        </p:blipFill>
        <p:spPr>
          <a:xfrm>
            <a:off x="9875520" y="256032"/>
            <a:ext cx="1920240" cy="777240"/>
          </a:xfrm>
          <a:prstGeom prst="rect">
            <a:avLst/>
          </a:prstGeom>
        </p:spPr>
      </p:pic>
      <p:sp>
        <p:nvSpPr>
          <p:cNvPr id="3" name="TextBox 2"/>
          <p:cNvSpPr txBox="1"/>
          <p:nvPr/>
        </p:nvSpPr>
        <p:spPr>
          <a:xfrm>
            <a:off x="731520" y="228600"/>
            <a:ext cx="8961120" cy="411480"/>
          </a:xfrm>
          <a:prstGeom prst="rect">
            <a:avLst/>
          </a:prstGeom>
          <a:noFill/>
        </p:spPr>
        <p:txBody>
          <a:bodyPr wrap="square">
            <a:spAutoFit/>
          </a:bodyPr>
          <a:lstStyle/>
          <a:p>
            <a:pPr>
              <a:defRPr sz="1300" b="1">
                <a:solidFill>
                  <a:srgbClr val="282A64"/>
                </a:solidFill>
                <a:latin typeface="Arial"/>
              </a:defRPr>
            </a:pPr>
            <a:r>
              <a:t>Kolhapur Institute of Technology's College of Engineering (Autonomous), Kolhapur</a:t>
            </a:r>
          </a:p>
        </p:txBody>
      </p:sp>
      <p:sp>
        <p:nvSpPr>
          <p:cNvPr id="4" name="TextBox 3"/>
          <p:cNvSpPr txBox="1"/>
          <p:nvPr/>
        </p:nvSpPr>
        <p:spPr>
          <a:xfrm>
            <a:off x="731520" y="594360"/>
            <a:ext cx="8961120" cy="365760"/>
          </a:xfrm>
          <a:prstGeom prst="rect">
            <a:avLst/>
          </a:prstGeom>
          <a:noFill/>
        </p:spPr>
        <p:txBody>
          <a:bodyPr wrap="none">
            <a:spAutoFit/>
          </a:bodyPr>
          <a:lstStyle/>
          <a:p>
            <a:pPr>
              <a:defRPr sz="1200" b="1">
                <a:solidFill>
                  <a:srgbClr val="B04A1B"/>
                </a:solidFill>
                <a:latin typeface="Arial"/>
              </a:defRPr>
            </a:pPr>
            <a:r>
              <a:t>Department of Computer Science and Business Systems</a:t>
            </a:r>
          </a:p>
        </p:txBody>
      </p:sp>
      <p:sp>
        <p:nvSpPr>
          <p:cNvPr id="5" name="TextBox 4"/>
          <p:cNvSpPr txBox="1"/>
          <p:nvPr/>
        </p:nvSpPr>
        <p:spPr>
          <a:xfrm>
            <a:off x="731520" y="914400"/>
            <a:ext cx="8961120" cy="320040"/>
          </a:xfrm>
          <a:prstGeom prst="rect">
            <a:avLst/>
          </a:prstGeom>
          <a:noFill/>
        </p:spPr>
        <p:txBody>
          <a:bodyPr wrap="none">
            <a:spAutoFit/>
          </a:bodyPr>
          <a:lstStyle/>
          <a:p>
            <a:pPr>
              <a:defRPr sz="1050">
                <a:solidFill>
                  <a:srgbClr val="64748B"/>
                </a:solidFill>
                <a:latin typeface="Arial"/>
              </a:defRPr>
            </a:pPr>
            <a:r>
              <a:t>Second Year – Division A  |  Academic Year 2026-27</a:t>
            </a:r>
          </a:p>
        </p:txBody>
      </p:sp>
      <p:sp>
        <p:nvSpPr>
          <p:cNvPr id="6" name="Rounded Rectangle 5"/>
          <p:cNvSpPr/>
          <p:nvPr/>
        </p:nvSpPr>
        <p:spPr>
          <a:xfrm>
            <a:off x="731520" y="1325880"/>
            <a:ext cx="10725912" cy="1371600"/>
          </a:xfrm>
          <a:prstGeom prst="roundRect">
            <a:avLst/>
          </a:prstGeom>
          <a:solidFill>
            <a:srgbClr val="F8FAFC"/>
          </a:solidFill>
          <a:ln w="2540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B04A1B"/>
                </a:solidFill>
                <a:latin typeface="Arial"/>
              </a:defRPr>
            </a:pPr>
            <a:r>
              <a:t>B.Tech CSBS Mini Project</a:t>
            </a:r>
          </a:p>
          <a:p>
            <a:pPr algn="ctr">
              <a:defRPr sz="2600" b="1">
                <a:solidFill>
                  <a:srgbClr val="282A64"/>
                </a:solidFill>
                <a:latin typeface="Arial"/>
              </a:defRPr>
            </a:pPr>
            <a:r>
              <a:t>Pick4Me</a:t>
            </a:r>
          </a:p>
          <a:p>
            <a:pPr algn="ctr">
              <a:defRPr sz="1300" b="1">
                <a:solidFill>
                  <a:srgbClr val="0D9488"/>
                </a:solidFill>
                <a:latin typeface="Arial"/>
              </a:defRPr>
            </a:pPr>
            <a:r>
              <a:t>Hyperlocal Campus Marketplace &amp; Crowdsourced Peer Commute Delivery Platform</a:t>
            </a:r>
          </a:p>
        </p:txBody>
      </p:sp>
      <p:graphicFrame>
        <p:nvGraphicFramePr>
          <p:cNvPr id="7" name="Table 6"/>
          <p:cNvGraphicFramePr>
            <a:graphicFrameLocks noGrp="1"/>
          </p:cNvGraphicFramePr>
          <p:nvPr/>
        </p:nvGraphicFramePr>
        <p:xfrm>
          <a:off x="1097280" y="2926080"/>
          <a:ext cx="6217920" cy="2103120"/>
        </p:xfrm>
        <a:graphic>
          <a:graphicData uri="http://schemas.openxmlformats.org/drawingml/2006/table">
            <a:tbl>
              <a:tblPr firstRow="1" bandRow="1">
                <a:tableStyleId>{5C22544A-7EE6-4342-B048-85BDC9FD1C3A}</a:tableStyleId>
              </a:tblPr>
              <a:tblGrid>
                <a:gridCol w="3931920"/>
                <a:gridCol w="2286000"/>
              </a:tblGrid>
              <a:tr h="420624">
                <a:tc>
                  <a:txBody>
                    <a:bodyPr/>
                    <a:lstStyle/>
                    <a:p>
                      <a:pPr algn="ctr">
                        <a:defRPr sz="1050" b="1">
                          <a:solidFill>
                            <a:srgbClr val="FFFFFF"/>
                          </a:solidFill>
                          <a:latin typeface="Arial"/>
                        </a:defRPr>
                      </a:pPr>
                      <a:r>
                        <a:t>Name of Team Member</a:t>
                      </a:r>
                    </a:p>
                  </a:txBody>
                  <a:tcPr>
                    <a:solidFill>
                      <a:srgbClr val="282A64"/>
                    </a:solidFill>
                  </a:tcPr>
                </a:tc>
                <a:tc>
                  <a:txBody>
                    <a:bodyPr/>
                    <a:lstStyle/>
                    <a:p>
                      <a:pPr algn="ctr">
                        <a:defRPr sz="1050" b="1">
                          <a:solidFill>
                            <a:srgbClr val="FFFFFF"/>
                          </a:solidFill>
                          <a:latin typeface="Arial"/>
                        </a:defRPr>
                      </a:pPr>
                      <a:r>
                        <a:t>PRN</a:t>
                      </a:r>
                    </a:p>
                  </a:txBody>
                  <a:tcPr>
                    <a:solidFill>
                      <a:srgbClr val="282A64"/>
                    </a:solidFill>
                  </a:tcPr>
                </a:tc>
              </a:tr>
              <a:tr h="420624">
                <a:tc>
                  <a:txBody>
                    <a:bodyPr/>
                    <a:lstStyle/>
                    <a:p>
                      <a:pPr>
                        <a:defRPr sz="1000" b="1">
                          <a:solidFill>
                            <a:srgbClr val="1E293B"/>
                          </a:solidFill>
                          <a:latin typeface="Arial"/>
                        </a:defRPr>
                      </a:pPr>
                      <a:r>
                        <a:t>DINESH AUSARAMAL</a:t>
                      </a:r>
                    </a:p>
                  </a:txBody>
                  <a:tcPr>
                    <a:solidFill>
                      <a:srgbClr val="F1F5F9"/>
                    </a:solidFill>
                  </a:tcPr>
                </a:tc>
                <a:tc>
                  <a:txBody>
                    <a:bodyPr/>
                    <a:lstStyle/>
                    <a:p>
                      <a:pPr algn="ctr">
                        <a:defRPr sz="1000" b="0">
                          <a:solidFill>
                            <a:srgbClr val="1E293B"/>
                          </a:solidFill>
                          <a:latin typeface="Arial"/>
                        </a:defRPr>
                      </a:pPr>
                      <a:r>
                        <a:t>2526UCB026</a:t>
                      </a:r>
                    </a:p>
                  </a:txBody>
                  <a:tcPr>
                    <a:solidFill>
                      <a:srgbClr val="F1F5F9"/>
                    </a:solidFill>
                  </a:tcPr>
                </a:tc>
              </a:tr>
              <a:tr h="420624">
                <a:tc>
                  <a:txBody>
                    <a:bodyPr/>
                    <a:lstStyle/>
                    <a:p>
                      <a:pPr>
                        <a:defRPr sz="1000" b="1">
                          <a:solidFill>
                            <a:srgbClr val="1E293B"/>
                          </a:solidFill>
                          <a:latin typeface="Arial"/>
                        </a:defRPr>
                      </a:pPr>
                      <a:r>
                        <a:t>ABHISHEK KANADJE</a:t>
                      </a:r>
                    </a:p>
                  </a:txBody>
                  <a:tcPr>
                    <a:solidFill>
                      <a:srgbClr val="FFFFFF"/>
                    </a:solidFill>
                  </a:tcPr>
                </a:tc>
                <a:tc>
                  <a:txBody>
                    <a:bodyPr/>
                    <a:lstStyle/>
                    <a:p>
                      <a:pPr algn="ctr">
                        <a:defRPr sz="1000" b="0">
                          <a:solidFill>
                            <a:srgbClr val="1E293B"/>
                          </a:solidFill>
                          <a:latin typeface="Arial"/>
                        </a:defRPr>
                      </a:pPr>
                      <a:r>
                        <a:t>2526UCB144</a:t>
                      </a:r>
                    </a:p>
                  </a:txBody>
                  <a:tcPr>
                    <a:solidFill>
                      <a:srgbClr val="FFFFFF"/>
                    </a:solidFill>
                  </a:tcPr>
                </a:tc>
              </a:tr>
              <a:tr h="420624">
                <a:tc>
                  <a:txBody>
                    <a:bodyPr/>
                    <a:lstStyle/>
                    <a:p>
                      <a:pPr>
                        <a:defRPr sz="1000" b="1">
                          <a:solidFill>
                            <a:srgbClr val="1E293B"/>
                          </a:solidFill>
                          <a:latin typeface="Arial"/>
                        </a:defRPr>
                      </a:pPr>
                      <a:r>
                        <a:t>JANHAVI ALAVEKAR</a:t>
                      </a:r>
                    </a:p>
                  </a:txBody>
                  <a:tcPr>
                    <a:solidFill>
                      <a:srgbClr val="F1F5F9"/>
                    </a:solidFill>
                  </a:tcPr>
                </a:tc>
                <a:tc>
                  <a:txBody>
                    <a:bodyPr/>
                    <a:lstStyle/>
                    <a:p>
                      <a:pPr algn="ctr">
                        <a:defRPr sz="1000" b="0">
                          <a:solidFill>
                            <a:srgbClr val="1E293B"/>
                          </a:solidFill>
                          <a:latin typeface="Arial"/>
                        </a:defRPr>
                      </a:pPr>
                      <a:r>
                        <a:t>2526UCB201</a:t>
                      </a:r>
                    </a:p>
                  </a:txBody>
                  <a:tcPr>
                    <a:solidFill>
                      <a:srgbClr val="F1F5F9"/>
                    </a:solidFill>
                  </a:tcPr>
                </a:tc>
              </a:tr>
              <a:tr h="420624">
                <a:tc>
                  <a:txBody>
                    <a:bodyPr/>
                    <a:lstStyle/>
                    <a:p>
                      <a:pPr>
                        <a:defRPr sz="1000" b="1">
                          <a:solidFill>
                            <a:srgbClr val="1E293B"/>
                          </a:solidFill>
                          <a:latin typeface="Arial"/>
                        </a:defRPr>
                      </a:pPr>
                      <a:r>
                        <a:t>LAKSHANA NABAR</a:t>
                      </a:r>
                    </a:p>
                  </a:txBody>
                  <a:tcPr>
                    <a:solidFill>
                      <a:srgbClr val="FFFFFF"/>
                    </a:solidFill>
                  </a:tcPr>
                </a:tc>
                <a:tc>
                  <a:txBody>
                    <a:bodyPr/>
                    <a:lstStyle/>
                    <a:p>
                      <a:pPr algn="ctr">
                        <a:defRPr sz="1000" b="0">
                          <a:solidFill>
                            <a:srgbClr val="1E293B"/>
                          </a:solidFill>
                          <a:latin typeface="Arial"/>
                        </a:defRPr>
                      </a:pPr>
                      <a:r>
                        <a:t>2526UCB002</a:t>
                      </a:r>
                    </a:p>
                  </a:txBody>
                  <a:tcPr>
                    <a:solidFill>
                      <a:srgbClr val="FFFFFF"/>
                    </a:solidFill>
                  </a:tcPr>
                </a:tc>
              </a:tr>
            </a:tbl>
          </a:graphicData>
        </a:graphic>
      </p:graphicFrame>
      <p:sp>
        <p:nvSpPr>
          <p:cNvPr id="8" name="Rounded Rectangle 7"/>
          <p:cNvSpPr/>
          <p:nvPr/>
        </p:nvSpPr>
        <p:spPr>
          <a:xfrm>
            <a:off x="7589520" y="2926080"/>
            <a:ext cx="3840480" cy="2103120"/>
          </a:xfrm>
          <a:prstGeom prst="roundRect">
            <a:avLst/>
          </a:prstGeom>
          <a:solidFill>
            <a:srgbClr val="FEF3C7"/>
          </a:solidFill>
          <a:ln w="19050">
            <a:solidFill>
              <a:srgbClr val="B04A1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100" b="1">
                <a:solidFill>
                  <a:srgbClr val="B04A1B"/>
                </a:solidFill>
                <a:latin typeface="Arial"/>
              </a:defRPr>
            </a:pPr>
            <a:r>
              <a:t>PROJECT GUIDANCE</a:t>
            </a:r>
          </a:p>
          <a:p>
            <a:pPr>
              <a:defRPr sz="1400" b="1">
                <a:solidFill>
                  <a:srgbClr val="282A64"/>
                </a:solidFill>
                <a:latin typeface="Arial"/>
              </a:defRPr>
            </a:pPr>
            <a:r>
              <a:t>Ms. Pramila Gadyanavar</a:t>
            </a:r>
          </a:p>
          <a:p>
            <a:pPr>
              <a:defRPr sz="950">
                <a:solidFill>
                  <a:srgbClr val="1E293B"/>
                </a:solidFill>
                <a:latin typeface="Arial"/>
              </a:defRPr>
            </a:pPr>
            <a:r>
              <a:t>Assistant Professor</a:t>
            </a:r>
            <a:br/>
            <a:r>
              <a:t>Department of Computer Science &amp; Business Systems</a:t>
            </a:r>
            <a:br/>
            <a:r>
              <a:t>KIT College of Engineering, Kolhapur</a:t>
            </a:r>
          </a:p>
        </p:txBody>
      </p:sp>
      <p:sp>
        <p:nvSpPr>
          <p:cNvPr id="9" name="TextBox 8"/>
          <p:cNvSpPr txBox="1"/>
          <p:nvPr/>
        </p:nvSpPr>
        <p:spPr>
          <a:xfrm>
            <a:off x="10515600" y="6309360"/>
            <a:ext cx="1097280" cy="365760"/>
          </a:xfrm>
          <a:prstGeom prst="rect">
            <a:avLst/>
          </a:prstGeom>
          <a:noFill/>
        </p:spPr>
        <p:txBody>
          <a:bodyPr wrap="none">
            <a:spAutoFit/>
          </a:bodyPr>
          <a:lstStyle/>
          <a:p>
            <a:pPr algn="r">
              <a:defRPr sz="1200" b="1">
                <a:solidFill>
                  <a:srgbClr val="282A64"/>
                </a:solidFill>
                <a:latin typeface="Aria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g_1.png"/>
          <p:cNvPicPr>
            <a:picLocks noChangeAspect="1"/>
          </p:cNvPicPr>
          <p:nvPr/>
        </p:nvPicPr>
        <p:blipFill>
          <a:blip r:embed="rId2"/>
          <a:stretch>
            <a:fillRect/>
          </a:stretch>
        </p:blipFill>
        <p:spPr>
          <a:xfrm>
            <a:off x="10058400" y="256032"/>
            <a:ext cx="1737360" cy="713232"/>
          </a:xfrm>
          <a:prstGeom prst="rect">
            <a:avLst/>
          </a:prstGeom>
        </p:spPr>
      </p:pic>
      <p:sp>
        <p:nvSpPr>
          <p:cNvPr id="3" name="TextBox 2"/>
          <p:cNvSpPr txBox="1"/>
          <p:nvPr/>
        </p:nvSpPr>
        <p:spPr>
          <a:xfrm>
            <a:off x="594360" y="228600"/>
            <a:ext cx="8686800" cy="411480"/>
          </a:xfrm>
          <a:prstGeom prst="rect">
            <a:avLst/>
          </a:prstGeom>
          <a:noFill/>
        </p:spPr>
        <p:txBody>
          <a:bodyPr wrap="square" lIns="0" tIns="0" rIns="0" bIns="0">
            <a:spAutoFit/>
          </a:bodyPr>
          <a:lstStyle/>
          <a:p>
            <a:pPr>
              <a:defRPr sz="1300" b="1">
                <a:solidFill>
                  <a:srgbClr val="282A64"/>
                </a:solidFill>
                <a:latin typeface="Arial"/>
              </a:defRPr>
            </a:pPr>
            <a:r>
              <a:t>Department of Computer Science and Business Systems</a:t>
            </a:r>
          </a:p>
          <a:p>
            <a:pPr>
              <a:defRPr sz="1000" b="1">
                <a:solidFill>
                  <a:srgbClr val="B04A1B"/>
                </a:solidFill>
                <a:latin typeface="Arial"/>
              </a:defRPr>
            </a:pPr>
            <a:r>
              <a:t>Introduction &amp; Project Overview</a:t>
            </a:r>
          </a:p>
        </p:txBody>
      </p:sp>
      <p:sp>
        <p:nvSpPr>
          <p:cNvPr id="4" name="TextBox 3"/>
          <p:cNvSpPr txBox="1"/>
          <p:nvPr/>
        </p:nvSpPr>
        <p:spPr>
          <a:xfrm>
            <a:off x="10515600" y="6309360"/>
            <a:ext cx="1097280" cy="365760"/>
          </a:xfrm>
          <a:prstGeom prst="rect">
            <a:avLst/>
          </a:prstGeom>
          <a:noFill/>
        </p:spPr>
        <p:txBody>
          <a:bodyPr wrap="none">
            <a:spAutoFit/>
          </a:bodyPr>
          <a:lstStyle/>
          <a:p>
            <a:pPr algn="r">
              <a:defRPr sz="1200" b="1">
                <a:solidFill>
                  <a:srgbClr val="282A64"/>
                </a:solidFill>
                <a:latin typeface="Arial"/>
              </a:defRPr>
            </a:pPr>
            <a:r>
              <a:t>2</a:t>
            </a:r>
          </a:p>
        </p:txBody>
      </p:sp>
      <p:sp>
        <p:nvSpPr>
          <p:cNvPr id="5" name="Rectangle 4"/>
          <p:cNvSpPr/>
          <p:nvPr/>
        </p:nvSpPr>
        <p:spPr>
          <a:xfrm>
            <a:off x="594360" y="6263640"/>
            <a:ext cx="109728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457200"/>
          </a:xfrm>
          <a:prstGeom prst="rect">
            <a:avLst/>
          </a:prstGeom>
          <a:noFill/>
        </p:spPr>
        <p:txBody>
          <a:bodyPr wrap="none">
            <a:spAutoFit/>
          </a:bodyPr>
          <a:lstStyle/>
          <a:p>
            <a:pPr>
              <a:defRPr sz="1800" b="1">
                <a:solidFill>
                  <a:srgbClr val="282A64"/>
                </a:solidFill>
                <a:latin typeface="Arial"/>
              </a:defRPr>
            </a:pPr>
            <a:r>
              <a:t>Introduction &amp; Campus Marketplace Concept</a:t>
            </a:r>
          </a:p>
        </p:txBody>
      </p:sp>
      <p:sp>
        <p:nvSpPr>
          <p:cNvPr id="7" name="Rounded Rectangle 6"/>
          <p:cNvSpPr/>
          <p:nvPr/>
        </p:nvSpPr>
        <p:spPr>
          <a:xfrm>
            <a:off x="594360" y="1463040"/>
            <a:ext cx="3474720" cy="448056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300" b="1">
                <a:solidFill>
                  <a:srgbClr val="282A64"/>
                </a:solidFill>
                <a:latin typeface="Arial"/>
              </a:defRPr>
            </a:pPr>
            <a:r>
              <a:t>What is Pick4Me?</a:t>
            </a:r>
          </a:p>
          <a:p>
            <a:pPr>
              <a:spcBef>
                <a:spcPts val="800"/>
              </a:spcBef>
              <a:defRPr sz="1000">
                <a:solidFill>
                  <a:srgbClr val="1E293B"/>
                </a:solidFill>
                <a:latin typeface="Arial"/>
              </a:defRPr>
            </a:pPr>
            <a:r>
              <a:t>• Hyperlocal campus e-commerce marketplace and crowdsourced peer delivery platform.</a:t>
            </a:r>
          </a:p>
          <a:p>
            <a:pPr>
              <a:spcBef>
                <a:spcPts val="800"/>
              </a:spcBef>
              <a:defRPr sz="1000">
                <a:solidFill>
                  <a:srgbClr val="1E293B"/>
                </a:solidFill>
                <a:latin typeface="Arial"/>
              </a:defRPr>
            </a:pPr>
            <a:r>
              <a:t>• Built specifically for engineering colleges, university campuses, and hostel zones.</a:t>
            </a:r>
          </a:p>
          <a:p>
            <a:pPr>
              <a:spcBef>
                <a:spcPts val="800"/>
              </a:spcBef>
              <a:defRPr sz="1000">
                <a:solidFill>
                  <a:srgbClr val="1E293B"/>
                </a:solidFill>
                <a:latin typeface="Arial"/>
              </a:defRPr>
            </a:pPr>
            <a:r>
              <a:t>• Transforms routine student foot traffic into a fast, zero-emission logistics network.</a:t>
            </a:r>
          </a:p>
          <a:p>
            <a:pPr>
              <a:spcBef>
                <a:spcPts val="800"/>
              </a:spcBef>
              <a:defRPr sz="1000">
                <a:solidFill>
                  <a:srgbClr val="1E293B"/>
                </a:solidFill>
                <a:latin typeface="Arial"/>
              </a:defRPr>
            </a:pPr>
            <a:r>
              <a:t>• Eliminates dependency on expensive commercial quick-commerce applications.</a:t>
            </a:r>
          </a:p>
        </p:txBody>
      </p:sp>
      <p:sp>
        <p:nvSpPr>
          <p:cNvPr id="8" name="Rounded Rectangle 7"/>
          <p:cNvSpPr/>
          <p:nvPr/>
        </p:nvSpPr>
        <p:spPr>
          <a:xfrm>
            <a:off x="4343400" y="1463040"/>
            <a:ext cx="3474720" cy="448056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300" b="1">
                <a:solidFill>
                  <a:srgbClr val="B04A1B"/>
                </a:solidFill>
                <a:latin typeface="Arial"/>
              </a:defRPr>
            </a:pPr>
            <a:r>
              <a:t>Core Purpose &amp; Concept</a:t>
            </a:r>
          </a:p>
          <a:p>
            <a:pPr>
              <a:spcBef>
                <a:spcPts val="800"/>
              </a:spcBef>
              <a:defRPr sz="1000">
                <a:solidFill>
                  <a:srgbClr val="1E293B"/>
                </a:solidFill>
                <a:latin typeface="Arial"/>
              </a:defRPr>
            </a:pPr>
            <a:r>
              <a:t>• Monetize Natural Commutes: Students walk between gates, classes, and hostels daily with empty backpacks.</a:t>
            </a:r>
          </a:p>
          <a:p>
            <a:pPr>
              <a:spcBef>
                <a:spcPts val="800"/>
              </a:spcBef>
              <a:defRPr sz="1000">
                <a:solidFill>
                  <a:srgbClr val="1E293B"/>
                </a:solidFill>
                <a:latin typeface="Arial"/>
              </a:defRPr>
            </a:pPr>
            <a:r>
              <a:t>• Digitize Local Vendors: Canteens, stationary hubs, and Xerox shops gain an online catalog with 0% commission.</a:t>
            </a:r>
          </a:p>
          <a:p>
            <a:pPr>
              <a:spcBef>
                <a:spcPts val="800"/>
              </a:spcBef>
              <a:defRPr sz="1000">
                <a:solidFill>
                  <a:srgbClr val="1E293B"/>
                </a:solidFill>
                <a:latin typeface="Arial"/>
              </a:defRPr>
            </a:pPr>
            <a:r>
              <a:t>• Doorstep Hostel Delivery: Peer commuters deliver directly to hostel rooms, bypassing campus gate bans.</a:t>
            </a:r>
          </a:p>
          <a:p>
            <a:pPr>
              <a:spcBef>
                <a:spcPts val="800"/>
              </a:spcBef>
              <a:defRPr sz="1000">
                <a:solidFill>
                  <a:srgbClr val="1E293B"/>
                </a:solidFill>
                <a:latin typeface="Arial"/>
              </a:defRPr>
            </a:pPr>
            <a:r>
              <a:t>• Advance Escrow Security: 100% upfront payment locked in escrow eliminates ghosting and buyer disputes.</a:t>
            </a:r>
          </a:p>
        </p:txBody>
      </p:sp>
      <p:sp>
        <p:nvSpPr>
          <p:cNvPr id="9" name="Rounded Rectangle 8"/>
          <p:cNvSpPr/>
          <p:nvPr/>
        </p:nvSpPr>
        <p:spPr>
          <a:xfrm>
            <a:off x="8092440" y="1463040"/>
            <a:ext cx="3474720" cy="448056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300" b="1">
                <a:solidFill>
                  <a:srgbClr val="282A64"/>
                </a:solidFill>
                <a:latin typeface="Arial"/>
              </a:defRPr>
            </a:pPr>
            <a:r>
              <a:t>Target Campus Users</a:t>
            </a:r>
          </a:p>
          <a:p>
            <a:pPr>
              <a:spcBef>
                <a:spcPts val="800"/>
              </a:spcBef>
              <a:defRPr sz="1000">
                <a:solidFill>
                  <a:srgbClr val="1E293B"/>
                </a:solidFill>
                <a:latin typeface="Arial"/>
              </a:defRPr>
            </a:pPr>
            <a:r>
              <a:t>• Student Buyers: Need urgent stationery, lab manuals, medicines, and snacks delivered to their rooms.</a:t>
            </a:r>
          </a:p>
          <a:p>
            <a:pPr>
              <a:spcBef>
                <a:spcPts val="800"/>
              </a:spcBef>
              <a:defRPr sz="1000">
                <a:solidFill>
                  <a:srgbClr val="1E293B"/>
                </a:solidFill>
                <a:latin typeface="Arial"/>
              </a:defRPr>
            </a:pPr>
            <a:r>
              <a:t>• Student Commuters: Earn ₹20–₹50 per delivery during their routine walking routes (₹200–₹500/day).</a:t>
            </a:r>
          </a:p>
          <a:p>
            <a:pPr>
              <a:spcBef>
                <a:spcPts val="800"/>
              </a:spcBef>
              <a:defRPr sz="1000">
                <a:solidFill>
                  <a:srgbClr val="1E293B"/>
                </a:solidFill>
                <a:latin typeface="Arial"/>
              </a:defRPr>
            </a:pPr>
            <a:r>
              <a:t>• Campus Store Merchants: Expand sales radius across all campus hostels without hiring delivery staff.</a:t>
            </a:r>
          </a:p>
          <a:p>
            <a:pPr>
              <a:spcBef>
                <a:spcPts val="800"/>
              </a:spcBef>
              <a:defRPr sz="1000">
                <a:solidFill>
                  <a:srgbClr val="1E293B"/>
                </a:solidFill>
                <a:latin typeface="Arial"/>
              </a:defRPr>
            </a:pPr>
            <a:r>
              <a:t>• Campus Administration: Transparent digital monitoring with zero motorized vehicle campus traffic.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g_1.png"/>
          <p:cNvPicPr>
            <a:picLocks noChangeAspect="1"/>
          </p:cNvPicPr>
          <p:nvPr/>
        </p:nvPicPr>
        <p:blipFill>
          <a:blip r:embed="rId2"/>
          <a:stretch>
            <a:fillRect/>
          </a:stretch>
        </p:blipFill>
        <p:spPr>
          <a:xfrm>
            <a:off x="10058400" y="256032"/>
            <a:ext cx="1737360" cy="713232"/>
          </a:xfrm>
          <a:prstGeom prst="rect">
            <a:avLst/>
          </a:prstGeom>
        </p:spPr>
      </p:pic>
      <p:sp>
        <p:nvSpPr>
          <p:cNvPr id="3" name="TextBox 2"/>
          <p:cNvSpPr txBox="1"/>
          <p:nvPr/>
        </p:nvSpPr>
        <p:spPr>
          <a:xfrm>
            <a:off x="594360" y="228600"/>
            <a:ext cx="8686800" cy="411480"/>
          </a:xfrm>
          <a:prstGeom prst="rect">
            <a:avLst/>
          </a:prstGeom>
          <a:noFill/>
        </p:spPr>
        <p:txBody>
          <a:bodyPr wrap="square" lIns="0" tIns="0" rIns="0" bIns="0">
            <a:spAutoFit/>
          </a:bodyPr>
          <a:lstStyle/>
          <a:p>
            <a:pPr>
              <a:defRPr sz="1300" b="1">
                <a:solidFill>
                  <a:srgbClr val="282A64"/>
                </a:solidFill>
                <a:latin typeface="Arial"/>
              </a:defRPr>
            </a:pPr>
            <a:r>
              <a:t>Department of Computer Science and Business Systems</a:t>
            </a:r>
          </a:p>
          <a:p>
            <a:pPr>
              <a:defRPr sz="1000" b="1">
                <a:solidFill>
                  <a:srgbClr val="B04A1B"/>
                </a:solidFill>
                <a:latin typeface="Arial"/>
              </a:defRPr>
            </a:pPr>
            <a:r>
              <a:t>Problem Statement &amp; Proposed Solution</a:t>
            </a:r>
          </a:p>
        </p:txBody>
      </p:sp>
      <p:sp>
        <p:nvSpPr>
          <p:cNvPr id="4" name="TextBox 3"/>
          <p:cNvSpPr txBox="1"/>
          <p:nvPr/>
        </p:nvSpPr>
        <p:spPr>
          <a:xfrm>
            <a:off x="10515600" y="6309360"/>
            <a:ext cx="1097280" cy="365760"/>
          </a:xfrm>
          <a:prstGeom prst="rect">
            <a:avLst/>
          </a:prstGeom>
          <a:noFill/>
        </p:spPr>
        <p:txBody>
          <a:bodyPr wrap="none">
            <a:spAutoFit/>
          </a:bodyPr>
          <a:lstStyle/>
          <a:p>
            <a:pPr algn="r">
              <a:defRPr sz="1200" b="1">
                <a:solidFill>
                  <a:srgbClr val="282A64"/>
                </a:solidFill>
                <a:latin typeface="Arial"/>
              </a:defRPr>
            </a:pPr>
            <a:r>
              <a:t>3</a:t>
            </a:r>
          </a:p>
        </p:txBody>
      </p:sp>
      <p:sp>
        <p:nvSpPr>
          <p:cNvPr id="5" name="Rectangle 4"/>
          <p:cNvSpPr/>
          <p:nvPr/>
        </p:nvSpPr>
        <p:spPr>
          <a:xfrm>
            <a:off x="594360" y="6263640"/>
            <a:ext cx="109728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457200"/>
          </a:xfrm>
          <a:prstGeom prst="rect">
            <a:avLst/>
          </a:prstGeom>
          <a:noFill/>
        </p:spPr>
        <p:txBody>
          <a:bodyPr wrap="none">
            <a:spAutoFit/>
          </a:bodyPr>
          <a:lstStyle/>
          <a:p>
            <a:pPr>
              <a:defRPr sz="1800" b="1">
                <a:solidFill>
                  <a:srgbClr val="282A64"/>
                </a:solidFill>
                <a:latin typeface="Arial"/>
              </a:defRPr>
            </a:pPr>
            <a:r>
              <a:t>Campus Delivery Challenges &amp; Engineered Solution</a:t>
            </a:r>
          </a:p>
        </p:txBody>
      </p:sp>
      <p:sp>
        <p:nvSpPr>
          <p:cNvPr id="7" name="Rounded Rectangle 6"/>
          <p:cNvSpPr/>
          <p:nvPr/>
        </p:nvSpPr>
        <p:spPr>
          <a:xfrm>
            <a:off x="594360" y="1463040"/>
            <a:ext cx="5303520" cy="448056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991B1B"/>
                </a:solidFill>
                <a:latin typeface="Arial"/>
              </a:defRPr>
            </a:pPr>
            <a:r>
              <a:t>Problem Statement: Campus Pain Points</a:t>
            </a:r>
          </a:p>
          <a:p>
            <a:pPr>
              <a:spcBef>
                <a:spcPts val="800"/>
              </a:spcBef>
              <a:defRPr sz="950">
                <a:solidFill>
                  <a:srgbClr val="1E293B"/>
                </a:solidFill>
                <a:latin typeface="Arial"/>
              </a:defRPr>
            </a:pPr>
            <a:r>
              <a:t>• High Delivery Fees &amp; Minimum Limits: Commercial delivery apps (Swiggy, Blinkit, Zepto) charge ₹30–₹60 fees on low-cost essentials (₹10 pen, Xerox, lab record), making small orders impractical.</a:t>
            </a:r>
          </a:p>
          <a:p>
            <a:pPr>
              <a:spcBef>
                <a:spcPts val="800"/>
              </a:spcBef>
              <a:defRPr sz="950">
                <a:solidFill>
                  <a:srgbClr val="1E293B"/>
                </a:solidFill>
                <a:latin typeface="Arial"/>
              </a:defRPr>
            </a:pPr>
            <a:r>
              <a:t>• Campus Gate Restriction: Outside commercial delivery agents are prohibited from entering campus hostel premises, forcing students to walk 1 km to the gate late at night.</a:t>
            </a:r>
          </a:p>
          <a:p>
            <a:pPr>
              <a:spcBef>
                <a:spcPts val="800"/>
              </a:spcBef>
              <a:defRPr sz="950">
                <a:solidFill>
                  <a:srgbClr val="1E293B"/>
                </a:solidFill>
                <a:latin typeface="Arial"/>
              </a:defRPr>
            </a:pPr>
            <a:r>
              <a:t>• Invisible Local Campus Stores: Stationery shops, canteens, and medical stores have zero digital presence; students cannot verify product availability or pricing remotely.</a:t>
            </a:r>
          </a:p>
          <a:p>
            <a:pPr>
              <a:spcBef>
                <a:spcPts val="800"/>
              </a:spcBef>
              <a:defRPr sz="950">
                <a:solidFill>
                  <a:srgbClr val="1E293B"/>
                </a:solidFill>
                <a:latin typeface="Arial"/>
              </a:defRPr>
            </a:pPr>
            <a:r>
              <a:t>• Unmonetized Routine Commutes: Students walk multiple kilometers across campus daily without any structured mechanism to earn micro-rewards for peer assistance.</a:t>
            </a:r>
          </a:p>
        </p:txBody>
      </p:sp>
      <p:sp>
        <p:nvSpPr>
          <p:cNvPr id="8" name="Rounded Rectangle 7"/>
          <p:cNvSpPr/>
          <p:nvPr/>
        </p:nvSpPr>
        <p:spPr>
          <a:xfrm>
            <a:off x="6263640" y="1463040"/>
            <a:ext cx="5303520" cy="448056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0F766E"/>
                </a:solidFill>
                <a:latin typeface="Arial"/>
              </a:defRPr>
            </a:pPr>
            <a:r>
              <a:t>Proposed Solution: Pick4Me Platform</a:t>
            </a:r>
          </a:p>
          <a:p>
            <a:pPr>
              <a:spcBef>
                <a:spcPts val="800"/>
              </a:spcBef>
              <a:defRPr sz="950">
                <a:solidFill>
                  <a:srgbClr val="1E293B"/>
                </a:solidFill>
                <a:latin typeface="Arial"/>
              </a:defRPr>
            </a:pPr>
            <a:r>
              <a:t>• Affordable Distance-Tiered Micro-Fees: Structured campus pricing starting at ₹20 base fee with zero minimum order value, perfectly tailored for student budgets.</a:t>
            </a:r>
          </a:p>
          <a:p>
            <a:pPr>
              <a:spcBef>
                <a:spcPts val="800"/>
              </a:spcBef>
              <a:defRPr sz="950">
                <a:solidFill>
                  <a:srgbClr val="1E293B"/>
                </a:solidFill>
                <a:latin typeface="Arial"/>
              </a:defRPr>
            </a:pPr>
            <a:r>
              <a:t>• Direct Hostel Room Delivery: Peer students with valid campus credentials carry packages directly to hostel rooms, eliminating midnight gate trips.</a:t>
            </a:r>
          </a:p>
          <a:p>
            <a:pPr>
              <a:spcBef>
                <a:spcPts val="800"/>
              </a:spcBef>
              <a:defRPr sz="950">
                <a:solidFill>
                  <a:srgbClr val="1E293B"/>
                </a:solidFill>
                <a:latin typeface="Arial"/>
              </a:defRPr>
            </a:pPr>
            <a:r>
              <a:t>• Digital Catalog for Campus Merchants: Enables campus stationery, canteens, and Xerox kiosks to list inventories with real-time stock indicators at 0% commission.</a:t>
            </a:r>
          </a:p>
          <a:p>
            <a:pPr>
              <a:spcBef>
                <a:spcPts val="800"/>
              </a:spcBef>
              <a:defRPr sz="950">
                <a:solidFill>
                  <a:srgbClr val="1E293B"/>
                </a:solidFill>
                <a:latin typeface="Arial"/>
              </a:defRPr>
            </a:pPr>
            <a:r>
              <a:t>• Zero-Carbon Peer Logistics Network: Converts existing foot and cycle traffic into a green, rapid supply network without fuel-burning motorcycles or fleet overhead.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g_1.png"/>
          <p:cNvPicPr>
            <a:picLocks noChangeAspect="1"/>
          </p:cNvPicPr>
          <p:nvPr/>
        </p:nvPicPr>
        <p:blipFill>
          <a:blip r:embed="rId2"/>
          <a:stretch>
            <a:fillRect/>
          </a:stretch>
        </p:blipFill>
        <p:spPr>
          <a:xfrm>
            <a:off x="10058400" y="256032"/>
            <a:ext cx="1737360" cy="713232"/>
          </a:xfrm>
          <a:prstGeom prst="rect">
            <a:avLst/>
          </a:prstGeom>
        </p:spPr>
      </p:pic>
      <p:sp>
        <p:nvSpPr>
          <p:cNvPr id="3" name="TextBox 2"/>
          <p:cNvSpPr txBox="1"/>
          <p:nvPr/>
        </p:nvSpPr>
        <p:spPr>
          <a:xfrm>
            <a:off x="594360" y="228600"/>
            <a:ext cx="8686800" cy="411480"/>
          </a:xfrm>
          <a:prstGeom prst="rect">
            <a:avLst/>
          </a:prstGeom>
          <a:noFill/>
        </p:spPr>
        <p:txBody>
          <a:bodyPr wrap="square" lIns="0" tIns="0" rIns="0" bIns="0">
            <a:spAutoFit/>
          </a:bodyPr>
          <a:lstStyle/>
          <a:p>
            <a:pPr>
              <a:defRPr sz="1300" b="1">
                <a:solidFill>
                  <a:srgbClr val="282A64"/>
                </a:solidFill>
                <a:latin typeface="Arial"/>
              </a:defRPr>
            </a:pPr>
            <a:r>
              <a:t>Department of Computer Science and Business Systems</a:t>
            </a:r>
          </a:p>
          <a:p>
            <a:pPr>
              <a:defRPr sz="1000" b="1">
                <a:solidFill>
                  <a:srgbClr val="B04A1B"/>
                </a:solidFill>
                <a:latin typeface="Arial"/>
              </a:defRPr>
            </a:pPr>
            <a:r>
              <a:t>Objectives &amp; Key Features</a:t>
            </a:r>
          </a:p>
        </p:txBody>
      </p:sp>
      <p:sp>
        <p:nvSpPr>
          <p:cNvPr id="4" name="TextBox 3"/>
          <p:cNvSpPr txBox="1"/>
          <p:nvPr/>
        </p:nvSpPr>
        <p:spPr>
          <a:xfrm>
            <a:off x="10515600" y="6309360"/>
            <a:ext cx="1097280" cy="365760"/>
          </a:xfrm>
          <a:prstGeom prst="rect">
            <a:avLst/>
          </a:prstGeom>
          <a:noFill/>
        </p:spPr>
        <p:txBody>
          <a:bodyPr wrap="none">
            <a:spAutoFit/>
          </a:bodyPr>
          <a:lstStyle/>
          <a:p>
            <a:pPr algn="r">
              <a:defRPr sz="1200" b="1">
                <a:solidFill>
                  <a:srgbClr val="282A64"/>
                </a:solidFill>
                <a:latin typeface="Arial"/>
              </a:defRPr>
            </a:pPr>
            <a:r>
              <a:t>4</a:t>
            </a:r>
          </a:p>
        </p:txBody>
      </p:sp>
      <p:sp>
        <p:nvSpPr>
          <p:cNvPr id="5" name="Rectangle 4"/>
          <p:cNvSpPr/>
          <p:nvPr/>
        </p:nvSpPr>
        <p:spPr>
          <a:xfrm>
            <a:off x="594360" y="6263640"/>
            <a:ext cx="109728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457200"/>
          </a:xfrm>
          <a:prstGeom prst="rect">
            <a:avLst/>
          </a:prstGeom>
          <a:noFill/>
        </p:spPr>
        <p:txBody>
          <a:bodyPr wrap="none">
            <a:spAutoFit/>
          </a:bodyPr>
          <a:lstStyle/>
          <a:p>
            <a:pPr>
              <a:defRPr sz="1800" b="1">
                <a:solidFill>
                  <a:srgbClr val="282A64"/>
                </a:solidFill>
                <a:latin typeface="Arial"/>
              </a:defRPr>
            </a:pPr>
            <a:r>
              <a:t>Core Project Objectives &amp; Functional Features</a:t>
            </a:r>
          </a:p>
        </p:txBody>
      </p:sp>
      <p:sp>
        <p:nvSpPr>
          <p:cNvPr id="7" name="Rounded Rectangle 6"/>
          <p:cNvSpPr/>
          <p:nvPr/>
        </p:nvSpPr>
        <p:spPr>
          <a:xfrm>
            <a:off x="594360" y="1463040"/>
            <a:ext cx="5303520" cy="448056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282A64"/>
                </a:solidFill>
                <a:latin typeface="Arial"/>
              </a:defRPr>
            </a:pPr>
            <a:r>
              <a:t>Project Objectives</a:t>
            </a:r>
          </a:p>
          <a:p>
            <a:pPr>
              <a:spcBef>
                <a:spcPts val="800"/>
              </a:spcBef>
              <a:defRPr sz="950">
                <a:solidFill>
                  <a:srgbClr val="1E293B"/>
                </a:solidFill>
                <a:latin typeface="Arial"/>
              </a:defRPr>
            </a:pPr>
            <a:r>
              <a:t>• Affordable Micro-Logistics: Eliminate prohibitive delivery surge fees on small essential student purchases.</a:t>
            </a:r>
          </a:p>
          <a:p>
            <a:pPr>
              <a:spcBef>
                <a:spcPts val="800"/>
              </a:spcBef>
              <a:defRPr sz="950">
                <a:solidFill>
                  <a:srgbClr val="1E293B"/>
                </a:solidFill>
                <a:latin typeface="Arial"/>
              </a:defRPr>
            </a:pPr>
            <a:r>
              <a:t>• Vendor Digitization: Provide campus shopkeepers with an intuitive, self-managed digital storefront.</a:t>
            </a:r>
          </a:p>
          <a:p>
            <a:pPr>
              <a:spcBef>
                <a:spcPts val="800"/>
              </a:spcBef>
              <a:defRPr sz="950">
                <a:solidFill>
                  <a:srgbClr val="1E293B"/>
                </a:solidFill>
                <a:latin typeface="Arial"/>
              </a:defRPr>
            </a:pPr>
            <a:r>
              <a:t>• Student Financial Independence: Offer flexible micro-earning opportunities during regular campus commutes.</a:t>
            </a:r>
          </a:p>
          <a:p>
            <a:pPr>
              <a:spcBef>
                <a:spcPts val="800"/>
              </a:spcBef>
              <a:defRPr sz="950">
                <a:solidFill>
                  <a:srgbClr val="1E293B"/>
                </a:solidFill>
                <a:latin typeface="Arial"/>
              </a:defRPr>
            </a:pPr>
            <a:r>
              <a:t>• Guaranteed Transaction Trust: Implement advance UPI escrow and physical OTP verification to eliminate payment fraud.</a:t>
            </a:r>
          </a:p>
          <a:p>
            <a:pPr>
              <a:spcBef>
                <a:spcPts val="800"/>
              </a:spcBef>
              <a:defRPr sz="950">
                <a:solidFill>
                  <a:srgbClr val="1E293B"/>
                </a:solidFill>
                <a:latin typeface="Arial"/>
              </a:defRPr>
            </a:pPr>
            <a:r>
              <a:t>• Environmental Decarbonization: Achieve 100% carbon-neutral deliveries by replacing motorized fleets with walking commuters.</a:t>
            </a:r>
          </a:p>
        </p:txBody>
      </p:sp>
      <p:sp>
        <p:nvSpPr>
          <p:cNvPr id="8" name="Rounded Rectangle 7"/>
          <p:cNvSpPr/>
          <p:nvPr/>
        </p:nvSpPr>
        <p:spPr>
          <a:xfrm>
            <a:off x="6263640" y="1463040"/>
            <a:ext cx="5303520" cy="448056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B04A1B"/>
                </a:solidFill>
                <a:latin typeface="Arial"/>
              </a:defRPr>
            </a:pPr>
            <a:r>
              <a:t>Key Functional Features</a:t>
            </a:r>
          </a:p>
          <a:p>
            <a:pPr>
              <a:spcBef>
                <a:spcPts val="800"/>
              </a:spcBef>
              <a:defRPr sz="950">
                <a:solidFill>
                  <a:srgbClr val="1E293B"/>
                </a:solidFill>
                <a:latin typeface="Arial"/>
              </a:defRPr>
            </a:pPr>
            <a:r>
              <a:t>• Multi-Store Catalog &amp; Cart (/cart): Browse 5 campus store categories, live search, real-time stock tags, and unified multi-item cart checkout.</a:t>
            </a:r>
          </a:p>
          <a:p>
            <a:pPr>
              <a:spcBef>
                <a:spcPts val="800"/>
              </a:spcBef>
              <a:defRPr sz="950">
                <a:solidFill>
                  <a:srgbClr val="1E293B"/>
                </a:solidFill>
                <a:latin typeface="Arial"/>
              </a:defRPr>
            </a:pPr>
            <a:r>
              <a:t>• Custom Errand Generator (/create-request): Request off-catalog items from any unlisted campus store with custom instructions and estimated budget.</a:t>
            </a:r>
          </a:p>
          <a:p>
            <a:pPr>
              <a:spcBef>
                <a:spcPts val="800"/>
              </a:spcBef>
              <a:defRPr sz="950">
                <a:solidFill>
                  <a:srgbClr val="1E293B"/>
                </a:solidFill>
                <a:latin typeface="Arial"/>
              </a:defRPr>
            </a:pPr>
            <a:r>
              <a:t>• Open Delivery Task Board (/deliveries): Real-time task board for commuting students to claim open deliveries on their routine route.</a:t>
            </a:r>
          </a:p>
          <a:p>
            <a:pPr>
              <a:spcBef>
                <a:spcPts val="800"/>
              </a:spcBef>
              <a:defRPr sz="950">
                <a:solidFill>
                  <a:srgbClr val="1E293B"/>
                </a:solidFill>
                <a:latin typeface="Arial"/>
              </a:defRPr>
            </a:pPr>
            <a:r>
              <a:t>• Dynamic Distance-Based Tiers: Structured zones: Within Campus (₹20), Near Gate (₹35), and Outer Town Market (₹55).</a:t>
            </a:r>
          </a:p>
          <a:p>
            <a:pPr>
              <a:spcBef>
                <a:spcPts val="800"/>
              </a:spcBef>
              <a:defRPr sz="950">
                <a:solidFill>
                  <a:srgbClr val="1E293B"/>
                </a:solidFill>
                <a:latin typeface="Arial"/>
              </a:defRPr>
            </a:pPr>
            <a:r>
              <a:t>• Live Order Tracking &amp; 4-Digit OTP: Real-time 2-stage milestone tracking and handover authentication via secret 4-digit OTP.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g_1.png"/>
          <p:cNvPicPr>
            <a:picLocks noChangeAspect="1"/>
          </p:cNvPicPr>
          <p:nvPr/>
        </p:nvPicPr>
        <p:blipFill>
          <a:blip r:embed="rId2"/>
          <a:stretch>
            <a:fillRect/>
          </a:stretch>
        </p:blipFill>
        <p:spPr>
          <a:xfrm>
            <a:off x="10058400" y="256032"/>
            <a:ext cx="1737360" cy="713232"/>
          </a:xfrm>
          <a:prstGeom prst="rect">
            <a:avLst/>
          </a:prstGeom>
        </p:spPr>
      </p:pic>
      <p:sp>
        <p:nvSpPr>
          <p:cNvPr id="3" name="TextBox 2"/>
          <p:cNvSpPr txBox="1"/>
          <p:nvPr/>
        </p:nvSpPr>
        <p:spPr>
          <a:xfrm>
            <a:off x="594360" y="228600"/>
            <a:ext cx="8686800" cy="411480"/>
          </a:xfrm>
          <a:prstGeom prst="rect">
            <a:avLst/>
          </a:prstGeom>
          <a:noFill/>
        </p:spPr>
        <p:txBody>
          <a:bodyPr wrap="square" lIns="0" tIns="0" rIns="0" bIns="0">
            <a:spAutoFit/>
          </a:bodyPr>
          <a:lstStyle/>
          <a:p>
            <a:pPr>
              <a:defRPr sz="1300" b="1">
                <a:solidFill>
                  <a:srgbClr val="282A64"/>
                </a:solidFill>
                <a:latin typeface="Arial"/>
              </a:defRPr>
            </a:pPr>
            <a:r>
              <a:t>Department of Computer Science and Business Systems</a:t>
            </a:r>
          </a:p>
          <a:p>
            <a:pPr>
              <a:defRPr sz="1000" b="1">
                <a:solidFill>
                  <a:srgbClr val="B04A1B"/>
                </a:solidFill>
                <a:latin typeface="Arial"/>
              </a:defRPr>
            </a:pPr>
            <a:r>
              <a:t>System Workflow Diagram</a:t>
            </a:r>
          </a:p>
        </p:txBody>
      </p:sp>
      <p:sp>
        <p:nvSpPr>
          <p:cNvPr id="4" name="TextBox 3"/>
          <p:cNvSpPr txBox="1"/>
          <p:nvPr/>
        </p:nvSpPr>
        <p:spPr>
          <a:xfrm>
            <a:off x="10515600" y="6309360"/>
            <a:ext cx="1097280" cy="365760"/>
          </a:xfrm>
          <a:prstGeom prst="rect">
            <a:avLst/>
          </a:prstGeom>
          <a:noFill/>
        </p:spPr>
        <p:txBody>
          <a:bodyPr wrap="none">
            <a:spAutoFit/>
          </a:bodyPr>
          <a:lstStyle/>
          <a:p>
            <a:pPr algn="r">
              <a:defRPr sz="1200" b="1">
                <a:solidFill>
                  <a:srgbClr val="282A64"/>
                </a:solidFill>
                <a:latin typeface="Arial"/>
              </a:defRPr>
            </a:pPr>
            <a:r>
              <a:t>5</a:t>
            </a:r>
          </a:p>
        </p:txBody>
      </p:sp>
      <p:sp>
        <p:nvSpPr>
          <p:cNvPr id="5" name="Rectangle 4"/>
          <p:cNvSpPr/>
          <p:nvPr/>
        </p:nvSpPr>
        <p:spPr>
          <a:xfrm>
            <a:off x="594360" y="6263640"/>
            <a:ext cx="109728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457200"/>
          </a:xfrm>
          <a:prstGeom prst="rect">
            <a:avLst/>
          </a:prstGeom>
          <a:noFill/>
        </p:spPr>
        <p:txBody>
          <a:bodyPr wrap="none">
            <a:spAutoFit/>
          </a:bodyPr>
          <a:lstStyle/>
          <a:p>
            <a:pPr>
              <a:defRPr sz="1800" b="1">
                <a:solidFill>
                  <a:srgbClr val="282A64"/>
                </a:solidFill>
                <a:latin typeface="Arial"/>
              </a:defRPr>
            </a:pPr>
            <a:r>
              <a:t>End-to-End 3-Party Logistics &amp; 2-Stage Escrow Flow</a:t>
            </a:r>
          </a:p>
        </p:txBody>
      </p:sp>
      <p:sp>
        <p:nvSpPr>
          <p:cNvPr id="7" name="TextBox 6"/>
          <p:cNvSpPr txBox="1"/>
          <p:nvPr/>
        </p:nvSpPr>
        <p:spPr>
          <a:xfrm>
            <a:off x="594360" y="1325880"/>
            <a:ext cx="10972800" cy="365760"/>
          </a:xfrm>
          <a:prstGeom prst="rect">
            <a:avLst/>
          </a:prstGeom>
          <a:noFill/>
        </p:spPr>
        <p:txBody>
          <a:bodyPr wrap="none">
            <a:spAutoFit/>
          </a:bodyPr>
          <a:lstStyle/>
          <a:p>
            <a:pPr>
              <a:defRPr sz="1050">
                <a:solidFill>
                  <a:srgbClr val="64748B"/>
                </a:solidFill>
                <a:latin typeface="Arial"/>
              </a:defRPr>
            </a:pPr>
            <a:r>
              <a:t>Step-by-Step Transaction Lifecycle (Customer A Buyer → Platform Escrow → Peer Commuter → Store Merchant)</a:t>
            </a:r>
          </a:p>
        </p:txBody>
      </p:sp>
      <p:sp>
        <p:nvSpPr>
          <p:cNvPr id="8" name="Rounded Rectangle 7"/>
          <p:cNvSpPr/>
          <p:nvPr/>
        </p:nvSpPr>
        <p:spPr>
          <a:xfrm>
            <a:off x="594360" y="1783080"/>
            <a:ext cx="1965960" cy="292608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64592"/>
          <a:lstStyle/>
          <a:p>
            <a:pPr algn="ctr">
              <a:defRPr sz="1000" b="1">
                <a:solidFill>
                  <a:srgbClr val="282A64"/>
                </a:solidFill>
                <a:latin typeface="Arial"/>
              </a:defRPr>
            </a:pPr>
            <a:r>
              <a:t>Step 1: Order Placement</a:t>
            </a:r>
          </a:p>
          <a:p>
            <a:pPr>
              <a:spcBef>
                <a:spcPts val="800"/>
              </a:spcBef>
              <a:defRPr sz="850">
                <a:solidFill>
                  <a:srgbClr val="1E293B"/>
                </a:solidFill>
                <a:latin typeface="Arial"/>
              </a:defRPr>
            </a:pPr>
            <a:r>
              <a:t>Customer selects items from catalog, inputs delivery location, and pays total amount via UPI QR in advance into Platform Escrow.</a:t>
            </a:r>
          </a:p>
        </p:txBody>
      </p:sp>
      <p:pic>
        <p:nvPicPr>
          <p:cNvPr id="9" name="Picture 8" descr="img_9.png"/>
          <p:cNvPicPr>
            <a:picLocks noChangeAspect="1"/>
          </p:cNvPicPr>
          <p:nvPr/>
        </p:nvPicPr>
        <p:blipFill>
          <a:blip r:embed="rId3"/>
          <a:stretch>
            <a:fillRect/>
          </a:stretch>
        </p:blipFill>
        <p:spPr>
          <a:xfrm>
            <a:off x="2596896" y="3136392"/>
            <a:ext cx="182880" cy="182880"/>
          </a:xfrm>
          <a:prstGeom prst="rect">
            <a:avLst/>
          </a:prstGeom>
        </p:spPr>
      </p:pic>
      <p:sp>
        <p:nvSpPr>
          <p:cNvPr id="10" name="Rounded Rectangle 9"/>
          <p:cNvSpPr/>
          <p:nvPr/>
        </p:nvSpPr>
        <p:spPr>
          <a:xfrm>
            <a:off x="2816352" y="1783080"/>
            <a:ext cx="1965960" cy="292608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64592"/>
          <a:lstStyle/>
          <a:p>
            <a:pPr algn="ctr">
              <a:defRPr sz="1000" b="1">
                <a:solidFill>
                  <a:srgbClr val="282A64"/>
                </a:solidFill>
                <a:latin typeface="Arial"/>
              </a:defRPr>
            </a:pPr>
            <a:r>
              <a:t>Step 2: Commuter Accepts</a:t>
            </a:r>
          </a:p>
          <a:p>
            <a:pPr>
              <a:spcBef>
                <a:spcPts val="800"/>
              </a:spcBef>
              <a:defRPr sz="850">
                <a:solidFill>
                  <a:srgbClr val="1E293B"/>
                </a:solidFill>
                <a:latin typeface="Arial"/>
              </a:defRPr>
            </a:pPr>
            <a:r>
              <a:t>Peer student walking in that direction claims the delivery task from the open task board (/deliveries).</a:t>
            </a:r>
          </a:p>
        </p:txBody>
      </p:sp>
      <p:pic>
        <p:nvPicPr>
          <p:cNvPr id="11" name="Picture 10" descr="img_9.png"/>
          <p:cNvPicPr>
            <a:picLocks noChangeAspect="1"/>
          </p:cNvPicPr>
          <p:nvPr/>
        </p:nvPicPr>
        <p:blipFill>
          <a:blip r:embed="rId3"/>
          <a:stretch>
            <a:fillRect/>
          </a:stretch>
        </p:blipFill>
        <p:spPr>
          <a:xfrm>
            <a:off x="4818888" y="3136392"/>
            <a:ext cx="182880" cy="182880"/>
          </a:xfrm>
          <a:prstGeom prst="rect">
            <a:avLst/>
          </a:prstGeom>
        </p:spPr>
      </p:pic>
      <p:sp>
        <p:nvSpPr>
          <p:cNvPr id="12" name="Rounded Rectangle 11"/>
          <p:cNvSpPr/>
          <p:nvPr/>
        </p:nvSpPr>
        <p:spPr>
          <a:xfrm>
            <a:off x="5038344" y="1783080"/>
            <a:ext cx="1965960" cy="292608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64592"/>
          <a:lstStyle/>
          <a:p>
            <a:pPr algn="ctr">
              <a:defRPr sz="1000" b="1">
                <a:solidFill>
                  <a:srgbClr val="282A64"/>
                </a:solidFill>
                <a:latin typeface="Arial"/>
              </a:defRPr>
            </a:pPr>
            <a:r>
              <a:t>Step 3: Stage 1 Pickup</a:t>
            </a:r>
          </a:p>
          <a:p>
            <a:pPr>
              <a:spcBef>
                <a:spcPts val="800"/>
              </a:spcBef>
              <a:defRPr sz="850">
                <a:solidFill>
                  <a:srgbClr val="1E293B"/>
                </a:solidFill>
                <a:latin typeface="Arial"/>
              </a:defRPr>
            </a:pPr>
            <a:r>
              <a:t>Commuter reaches shop and collects items. Merchant confirms handover. Product cost is credited to Merchant Wallet.</a:t>
            </a:r>
          </a:p>
        </p:txBody>
      </p:sp>
      <p:pic>
        <p:nvPicPr>
          <p:cNvPr id="13" name="Picture 12" descr="img_9.png"/>
          <p:cNvPicPr>
            <a:picLocks noChangeAspect="1"/>
          </p:cNvPicPr>
          <p:nvPr/>
        </p:nvPicPr>
        <p:blipFill>
          <a:blip r:embed="rId3"/>
          <a:stretch>
            <a:fillRect/>
          </a:stretch>
        </p:blipFill>
        <p:spPr>
          <a:xfrm>
            <a:off x="7040880" y="3136392"/>
            <a:ext cx="182880" cy="182880"/>
          </a:xfrm>
          <a:prstGeom prst="rect">
            <a:avLst/>
          </a:prstGeom>
        </p:spPr>
      </p:pic>
      <p:sp>
        <p:nvSpPr>
          <p:cNvPr id="14" name="Rounded Rectangle 13"/>
          <p:cNvSpPr/>
          <p:nvPr/>
        </p:nvSpPr>
        <p:spPr>
          <a:xfrm>
            <a:off x="7260336" y="1783080"/>
            <a:ext cx="1965960" cy="292608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64592"/>
          <a:lstStyle/>
          <a:p>
            <a:pPr algn="ctr">
              <a:defRPr sz="1000" b="1">
                <a:solidFill>
                  <a:srgbClr val="282A64"/>
                </a:solidFill>
                <a:latin typeface="Arial"/>
              </a:defRPr>
            </a:pPr>
            <a:r>
              <a:t>Step 4: Stage 2 Handover</a:t>
            </a:r>
          </a:p>
          <a:p>
            <a:pPr>
              <a:spcBef>
                <a:spcPts val="800"/>
              </a:spcBef>
              <a:defRPr sz="850">
                <a:solidFill>
                  <a:srgbClr val="1E293B"/>
                </a:solidFill>
                <a:latin typeface="Arial"/>
              </a:defRPr>
            </a:pPr>
            <a:r>
              <a:t>Commuter reaches customer's room. Customer verifies items and provides their private 4-digit Delivery OTP.</a:t>
            </a:r>
          </a:p>
        </p:txBody>
      </p:sp>
      <p:pic>
        <p:nvPicPr>
          <p:cNvPr id="15" name="Picture 14" descr="img_9.png"/>
          <p:cNvPicPr>
            <a:picLocks noChangeAspect="1"/>
          </p:cNvPicPr>
          <p:nvPr/>
        </p:nvPicPr>
        <p:blipFill>
          <a:blip r:embed="rId3"/>
          <a:stretch>
            <a:fillRect/>
          </a:stretch>
        </p:blipFill>
        <p:spPr>
          <a:xfrm>
            <a:off x="9262872" y="3136392"/>
            <a:ext cx="182880" cy="182880"/>
          </a:xfrm>
          <a:prstGeom prst="rect">
            <a:avLst/>
          </a:prstGeom>
        </p:spPr>
      </p:pic>
      <p:sp>
        <p:nvSpPr>
          <p:cNvPr id="16" name="Rounded Rectangle 15"/>
          <p:cNvSpPr/>
          <p:nvPr/>
        </p:nvSpPr>
        <p:spPr>
          <a:xfrm>
            <a:off x="9482328" y="1783080"/>
            <a:ext cx="1965960" cy="292608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64592"/>
          <a:lstStyle/>
          <a:p>
            <a:pPr algn="ctr">
              <a:defRPr sz="1000" b="1">
                <a:solidFill>
                  <a:srgbClr val="282A64"/>
                </a:solidFill>
                <a:latin typeface="Arial"/>
              </a:defRPr>
            </a:pPr>
            <a:r>
              <a:t>Step 5: Reward Release</a:t>
            </a:r>
          </a:p>
          <a:p>
            <a:pPr>
              <a:spcBef>
                <a:spcPts val="800"/>
              </a:spcBef>
              <a:defRPr sz="850">
                <a:solidFill>
                  <a:srgbClr val="1E293B"/>
                </a:solidFill>
                <a:latin typeface="Arial"/>
              </a:defRPr>
            </a:pPr>
            <a:r>
              <a:t>Commuter enters OTP. System cryptographically verifies code and releases Delivery Fee + Speed Bonus into Commuter Wallet.</a:t>
            </a:r>
          </a:p>
        </p:txBody>
      </p:sp>
      <p:sp>
        <p:nvSpPr>
          <p:cNvPr id="17" name="Rounded Rectangle 16"/>
          <p:cNvSpPr/>
          <p:nvPr/>
        </p:nvSpPr>
        <p:spPr>
          <a:xfrm>
            <a:off x="594360" y="4892040"/>
            <a:ext cx="10972800" cy="1097280"/>
          </a:xfrm>
          <a:prstGeom prst="roundRect">
            <a:avLst/>
          </a:prstGeom>
          <a:solidFill>
            <a:srgbClr val="F8FAFC"/>
          </a:solidFill>
          <a:ln w="19050">
            <a:solidFill>
              <a:srgbClr val="B04A1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100" b="1">
                <a:solidFill>
                  <a:srgbClr val="B04A1B"/>
                </a:solidFill>
                <a:latin typeface="Arial"/>
              </a:defRPr>
            </a:pPr>
            <a:r>
              <a:t>🛡️ Two-Stage Escrow Protection Guarantee</a:t>
            </a:r>
          </a:p>
          <a:p>
            <a:pPr>
              <a:spcBef>
                <a:spcPts val="400"/>
              </a:spcBef>
              <a:defRPr sz="900">
                <a:solidFill>
                  <a:srgbClr val="1E293B"/>
                </a:solidFill>
                <a:latin typeface="Arial"/>
              </a:defRPr>
            </a:pPr>
            <a:r>
              <a:t>100% of payment is locked in Escrow upfront. Shopkeepers are guaranteed product payment upon physical handover (Stage 1), and Deliverers are guaranteed delivery earnings upon OTP verification (Stage 2). No cash handling, zero buyer ghosting, and no customer refusal risk.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g_1.png"/>
          <p:cNvPicPr>
            <a:picLocks noChangeAspect="1"/>
          </p:cNvPicPr>
          <p:nvPr/>
        </p:nvPicPr>
        <p:blipFill>
          <a:blip r:embed="rId2"/>
          <a:stretch>
            <a:fillRect/>
          </a:stretch>
        </p:blipFill>
        <p:spPr>
          <a:xfrm>
            <a:off x="10058400" y="256032"/>
            <a:ext cx="1737360" cy="713232"/>
          </a:xfrm>
          <a:prstGeom prst="rect">
            <a:avLst/>
          </a:prstGeom>
        </p:spPr>
      </p:pic>
      <p:sp>
        <p:nvSpPr>
          <p:cNvPr id="3" name="TextBox 2"/>
          <p:cNvSpPr txBox="1"/>
          <p:nvPr/>
        </p:nvSpPr>
        <p:spPr>
          <a:xfrm>
            <a:off x="594360" y="228600"/>
            <a:ext cx="8686800" cy="411480"/>
          </a:xfrm>
          <a:prstGeom prst="rect">
            <a:avLst/>
          </a:prstGeom>
          <a:noFill/>
        </p:spPr>
        <p:txBody>
          <a:bodyPr wrap="square" lIns="0" tIns="0" rIns="0" bIns="0">
            <a:spAutoFit/>
          </a:bodyPr>
          <a:lstStyle/>
          <a:p>
            <a:pPr>
              <a:defRPr sz="1300" b="1">
                <a:solidFill>
                  <a:srgbClr val="282A64"/>
                </a:solidFill>
                <a:latin typeface="Arial"/>
              </a:defRPr>
            </a:pPr>
            <a:r>
              <a:t>Department of Computer Science and Business Systems</a:t>
            </a:r>
          </a:p>
          <a:p>
            <a:pPr>
              <a:defRPr sz="1000" b="1">
                <a:solidFill>
                  <a:srgbClr val="B04A1B"/>
                </a:solidFill>
                <a:latin typeface="Arial"/>
              </a:defRPr>
            </a:pPr>
            <a:r>
              <a:t>Technology Stack &amp; Architecture</a:t>
            </a:r>
          </a:p>
        </p:txBody>
      </p:sp>
      <p:sp>
        <p:nvSpPr>
          <p:cNvPr id="4" name="TextBox 3"/>
          <p:cNvSpPr txBox="1"/>
          <p:nvPr/>
        </p:nvSpPr>
        <p:spPr>
          <a:xfrm>
            <a:off x="10515600" y="6309360"/>
            <a:ext cx="1097280" cy="365760"/>
          </a:xfrm>
          <a:prstGeom prst="rect">
            <a:avLst/>
          </a:prstGeom>
          <a:noFill/>
        </p:spPr>
        <p:txBody>
          <a:bodyPr wrap="none">
            <a:spAutoFit/>
          </a:bodyPr>
          <a:lstStyle/>
          <a:p>
            <a:pPr algn="r">
              <a:defRPr sz="1200" b="1">
                <a:solidFill>
                  <a:srgbClr val="282A64"/>
                </a:solidFill>
                <a:latin typeface="Arial"/>
              </a:defRPr>
            </a:pPr>
            <a:r>
              <a:t>6</a:t>
            </a:r>
          </a:p>
        </p:txBody>
      </p:sp>
      <p:sp>
        <p:nvSpPr>
          <p:cNvPr id="5" name="Rectangle 4"/>
          <p:cNvSpPr/>
          <p:nvPr/>
        </p:nvSpPr>
        <p:spPr>
          <a:xfrm>
            <a:off x="594360" y="6263640"/>
            <a:ext cx="109728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457200"/>
          </a:xfrm>
          <a:prstGeom prst="rect">
            <a:avLst/>
          </a:prstGeom>
          <a:noFill/>
        </p:spPr>
        <p:txBody>
          <a:bodyPr wrap="none">
            <a:spAutoFit/>
          </a:bodyPr>
          <a:lstStyle/>
          <a:p>
            <a:pPr>
              <a:defRPr sz="1800" b="1">
                <a:solidFill>
                  <a:srgbClr val="282A64"/>
                </a:solidFill>
                <a:latin typeface="Arial"/>
              </a:defRPr>
            </a:pPr>
            <a:r>
              <a:t>System Architecture &amp; Component Technology Stack</a:t>
            </a:r>
          </a:p>
        </p:txBody>
      </p:sp>
      <p:graphicFrame>
        <p:nvGraphicFramePr>
          <p:cNvPr id="7" name="Table 6"/>
          <p:cNvGraphicFramePr>
            <a:graphicFrameLocks noGrp="1"/>
          </p:cNvGraphicFramePr>
          <p:nvPr/>
        </p:nvGraphicFramePr>
        <p:xfrm>
          <a:off x="594360" y="1463040"/>
          <a:ext cx="5486400" cy="4480560"/>
        </p:xfrm>
        <a:graphic>
          <a:graphicData uri="http://schemas.openxmlformats.org/drawingml/2006/table">
            <a:tbl>
              <a:tblPr firstRow="1" bandRow="1">
                <a:tableStyleId>{5C22544A-7EE6-4342-B048-85BDC9FD1C3A}</a:tableStyleId>
              </a:tblPr>
              <a:tblGrid>
                <a:gridCol w="2103120"/>
                <a:gridCol w="3383280"/>
              </a:tblGrid>
              <a:tr h="560070">
                <a:tc>
                  <a:txBody>
                    <a:bodyPr/>
                    <a:lstStyle/>
                    <a:p>
                      <a:pPr>
                        <a:defRPr sz="1000" b="1">
                          <a:solidFill>
                            <a:srgbClr val="FFFFFF"/>
                          </a:solidFill>
                          <a:latin typeface="Arial"/>
                        </a:defRPr>
                      </a:pPr>
                      <a:r>
                        <a:t>Layer / Component</a:t>
                      </a:r>
                    </a:p>
                  </a:txBody>
                  <a:tcPr>
                    <a:solidFill>
                      <a:srgbClr val="282A64"/>
                    </a:solidFill>
                  </a:tcPr>
                </a:tc>
                <a:tc>
                  <a:txBody>
                    <a:bodyPr/>
                    <a:lstStyle/>
                    <a:p>
                      <a:pPr>
                        <a:defRPr sz="1000" b="1">
                          <a:solidFill>
                            <a:srgbClr val="FFFFFF"/>
                          </a:solidFill>
                          <a:latin typeface="Arial"/>
                        </a:defRPr>
                      </a:pPr>
                      <a:r>
                        <a:t>Technology Implemented</a:t>
                      </a:r>
                    </a:p>
                  </a:txBody>
                  <a:tcPr>
                    <a:solidFill>
                      <a:srgbClr val="282A64"/>
                    </a:solidFill>
                  </a:tcPr>
                </a:tc>
              </a:tr>
              <a:tr h="560070">
                <a:tc>
                  <a:txBody>
                    <a:bodyPr/>
                    <a:lstStyle/>
                    <a:p>
                      <a:pPr>
                        <a:defRPr sz="950" b="1">
                          <a:solidFill>
                            <a:srgbClr val="1E293B"/>
                          </a:solidFill>
                          <a:latin typeface="Arial"/>
                        </a:defRPr>
                      </a:pPr>
                      <a:r>
                        <a:t>Backend Framework</a:t>
                      </a:r>
                    </a:p>
                  </a:txBody>
                  <a:tcPr>
                    <a:solidFill>
                      <a:srgbClr val="F8FAFC"/>
                    </a:solidFill>
                  </a:tcPr>
                </a:tc>
                <a:tc>
                  <a:txBody>
                    <a:bodyPr/>
                    <a:lstStyle/>
                    <a:p>
                      <a:pPr>
                        <a:defRPr sz="950" b="0">
                          <a:solidFill>
                            <a:srgbClr val="1E293B"/>
                          </a:solidFill>
                          <a:latin typeface="Arial"/>
                        </a:defRPr>
                      </a:pPr>
                      <a:r>
                        <a:t>Python 3.11+, Flask 3.0 (MVC Architecture)</a:t>
                      </a:r>
                    </a:p>
                  </a:txBody>
                  <a:tcPr>
                    <a:solidFill>
                      <a:srgbClr val="F8FAFC"/>
                    </a:solidFill>
                  </a:tcPr>
                </a:tc>
              </a:tr>
              <a:tr h="560070">
                <a:tc>
                  <a:txBody>
                    <a:bodyPr/>
                    <a:lstStyle/>
                    <a:p>
                      <a:pPr>
                        <a:defRPr sz="950" b="1">
                          <a:solidFill>
                            <a:srgbClr val="1E293B"/>
                          </a:solidFill>
                          <a:latin typeface="Arial"/>
                        </a:defRPr>
                      </a:pPr>
                      <a:r>
                        <a:t>Cloud Database</a:t>
                      </a:r>
                    </a:p>
                  </a:txBody>
                  <a:tcPr>
                    <a:solidFill>
                      <a:srgbClr val="FFFFFF"/>
                    </a:solidFill>
                  </a:tcPr>
                </a:tc>
                <a:tc>
                  <a:txBody>
                    <a:bodyPr/>
                    <a:lstStyle/>
                    <a:p>
                      <a:pPr>
                        <a:defRPr sz="950" b="0">
                          <a:solidFill>
                            <a:srgbClr val="1E293B"/>
                          </a:solidFill>
                          <a:latin typeface="Arial"/>
                        </a:defRPr>
                      </a:pPr>
                      <a:r>
                        <a:t>PostgreSQL (Neon.tech Serverless Cloud DB)</a:t>
                      </a:r>
                    </a:p>
                  </a:txBody>
                  <a:tcPr>
                    <a:solidFill>
                      <a:srgbClr val="FFFFFF"/>
                    </a:solidFill>
                  </a:tcPr>
                </a:tc>
              </a:tr>
              <a:tr h="560070">
                <a:tc>
                  <a:txBody>
                    <a:bodyPr/>
                    <a:lstStyle/>
                    <a:p>
                      <a:pPr>
                        <a:defRPr sz="950" b="1">
                          <a:solidFill>
                            <a:srgbClr val="1E293B"/>
                          </a:solidFill>
                          <a:latin typeface="Arial"/>
                        </a:defRPr>
                      </a:pPr>
                      <a:r>
                        <a:t>Local DB Engine</a:t>
                      </a:r>
                    </a:p>
                  </a:txBody>
                  <a:tcPr>
                    <a:solidFill>
                      <a:srgbClr val="F8FAFC"/>
                    </a:solidFill>
                  </a:tcPr>
                </a:tc>
                <a:tc>
                  <a:txBody>
                    <a:bodyPr/>
                    <a:lstStyle/>
                    <a:p>
                      <a:pPr>
                        <a:defRPr sz="950" b="0">
                          <a:solidFill>
                            <a:srgbClr val="1E293B"/>
                          </a:solidFill>
                          <a:latin typeface="Arial"/>
                        </a:defRPr>
                      </a:pPr>
                      <a:r>
                        <a:t>SQLite3 (pick4me.db) with Auto-Migration</a:t>
                      </a:r>
                    </a:p>
                  </a:txBody>
                  <a:tcPr>
                    <a:solidFill>
                      <a:srgbClr val="F8FAFC"/>
                    </a:solidFill>
                  </a:tcPr>
                </a:tc>
              </a:tr>
              <a:tr h="560070">
                <a:tc>
                  <a:txBody>
                    <a:bodyPr/>
                    <a:lstStyle/>
                    <a:p>
                      <a:pPr>
                        <a:defRPr sz="950" b="1">
                          <a:solidFill>
                            <a:srgbClr val="1E293B"/>
                          </a:solidFill>
                          <a:latin typeface="Arial"/>
                        </a:defRPr>
                      </a:pPr>
                      <a:r>
                        <a:t>Database Driver</a:t>
                      </a:r>
                    </a:p>
                  </a:txBody>
                  <a:tcPr>
                    <a:solidFill>
                      <a:srgbClr val="FFFFFF"/>
                    </a:solidFill>
                  </a:tcPr>
                </a:tc>
                <a:tc>
                  <a:txBody>
                    <a:bodyPr/>
                    <a:lstStyle/>
                    <a:p>
                      <a:pPr>
                        <a:defRPr sz="950" b="0">
                          <a:solidFill>
                            <a:srgbClr val="1E293B"/>
                          </a:solidFill>
                          <a:latin typeface="Arial"/>
                        </a:defRPr>
                      </a:pPr>
                      <a:r>
                        <a:t>psycopg2-binary + sqlite3 Dual Adaptor</a:t>
                      </a:r>
                    </a:p>
                  </a:txBody>
                  <a:tcPr>
                    <a:solidFill>
                      <a:srgbClr val="FFFFFF"/>
                    </a:solidFill>
                  </a:tcPr>
                </a:tc>
              </a:tr>
              <a:tr h="560070">
                <a:tc>
                  <a:txBody>
                    <a:bodyPr/>
                    <a:lstStyle/>
                    <a:p>
                      <a:pPr>
                        <a:defRPr sz="950" b="1">
                          <a:solidFill>
                            <a:srgbClr val="1E293B"/>
                          </a:solidFill>
                          <a:latin typeface="Arial"/>
                        </a:defRPr>
                      </a:pPr>
                      <a:r>
                        <a:t>Frontend UI/UX</a:t>
                      </a:r>
                    </a:p>
                  </a:txBody>
                  <a:tcPr>
                    <a:solidFill>
                      <a:srgbClr val="F8FAFC"/>
                    </a:solidFill>
                  </a:tcPr>
                </a:tc>
                <a:tc>
                  <a:txBody>
                    <a:bodyPr/>
                    <a:lstStyle/>
                    <a:p>
                      <a:pPr>
                        <a:defRPr sz="950" b="0">
                          <a:solidFill>
                            <a:srgbClr val="1E293B"/>
                          </a:solidFill>
                          <a:latin typeface="Arial"/>
                        </a:defRPr>
                      </a:pPr>
                      <a:r>
                        <a:t>HTML5, Modern CSS3 (Grid/Flexbox), JavaScript</a:t>
                      </a:r>
                    </a:p>
                  </a:txBody>
                  <a:tcPr>
                    <a:solidFill>
                      <a:srgbClr val="F8FAFC"/>
                    </a:solidFill>
                  </a:tcPr>
                </a:tc>
              </a:tr>
              <a:tr h="560070">
                <a:tc>
                  <a:txBody>
                    <a:bodyPr/>
                    <a:lstStyle/>
                    <a:p>
                      <a:pPr>
                        <a:defRPr sz="950" b="1">
                          <a:solidFill>
                            <a:srgbClr val="1E293B"/>
                          </a:solidFill>
                          <a:latin typeface="Arial"/>
                        </a:defRPr>
                      </a:pPr>
                      <a:r>
                        <a:t>Audio Synthesizer</a:t>
                      </a:r>
                    </a:p>
                  </a:txBody>
                  <a:tcPr>
                    <a:solidFill>
                      <a:srgbClr val="FFFFFF"/>
                    </a:solidFill>
                  </a:tcPr>
                </a:tc>
                <a:tc>
                  <a:txBody>
                    <a:bodyPr/>
                    <a:lstStyle/>
                    <a:p>
                      <a:pPr>
                        <a:defRPr sz="950" b="0">
                          <a:solidFill>
                            <a:srgbClr val="1E293B"/>
                          </a:solidFill>
                          <a:latin typeface="Arial"/>
                        </a:defRPr>
                      </a:pPr>
                      <a:r>
                        <a:t>HTML5 Web Audio API (Dual Oscillator 440/480Hz)</a:t>
                      </a:r>
                    </a:p>
                  </a:txBody>
                  <a:tcPr>
                    <a:solidFill>
                      <a:srgbClr val="FFFFFF"/>
                    </a:solidFill>
                  </a:tcPr>
                </a:tc>
              </a:tr>
              <a:tr h="560070">
                <a:tc>
                  <a:txBody>
                    <a:bodyPr/>
                    <a:lstStyle/>
                    <a:p>
                      <a:pPr>
                        <a:defRPr sz="950" b="1">
                          <a:solidFill>
                            <a:srgbClr val="1E293B"/>
                          </a:solidFill>
                          <a:latin typeface="Arial"/>
                        </a:defRPr>
                      </a:pPr>
                      <a:r>
                        <a:t>Security &amp; WSGI</a:t>
                      </a:r>
                    </a:p>
                  </a:txBody>
                  <a:tcPr>
                    <a:solidFill>
                      <a:srgbClr val="F8FAFC"/>
                    </a:solidFill>
                  </a:tcPr>
                </a:tc>
                <a:tc>
                  <a:txBody>
                    <a:bodyPr/>
                    <a:lstStyle/>
                    <a:p>
                      <a:pPr>
                        <a:defRPr sz="950" b="0">
                          <a:solidFill>
                            <a:srgbClr val="1E293B"/>
                          </a:solidFill>
                          <a:latin typeface="Arial"/>
                        </a:defRPr>
                      </a:pPr>
                      <a:r>
                        <a:t>PBKDF2:SHA256, Gunicorn WSGI, Render Cloud</a:t>
                      </a:r>
                    </a:p>
                  </a:txBody>
                  <a:tcPr>
                    <a:solidFill>
                      <a:srgbClr val="F8FAFC"/>
                    </a:solidFill>
                  </a:tcPr>
                </a:tc>
              </a:tr>
            </a:tbl>
          </a:graphicData>
        </a:graphic>
      </p:graphicFrame>
      <p:sp>
        <p:nvSpPr>
          <p:cNvPr id="8" name="Rounded Rectangle 7"/>
          <p:cNvSpPr/>
          <p:nvPr/>
        </p:nvSpPr>
        <p:spPr>
          <a:xfrm>
            <a:off x="6400800" y="1463040"/>
            <a:ext cx="5166360" cy="448056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B04A1B"/>
                </a:solidFill>
                <a:latin typeface="Arial"/>
              </a:defRPr>
            </a:pPr>
            <a:r>
              <a:t>Architectural Design Highlights</a:t>
            </a:r>
          </a:p>
          <a:p>
            <a:pPr>
              <a:spcBef>
                <a:spcPts val="900"/>
              </a:spcBef>
              <a:defRPr sz="950">
                <a:solidFill>
                  <a:srgbClr val="1E293B"/>
                </a:solidFill>
                <a:latin typeface="Arial"/>
              </a:defRPr>
            </a:pPr>
            <a:r>
              <a:t>• Model-View-Controller (MVC): Clean separation of business logic in app.py, relational data schemas in database.py, and modular presentation in Jinja2 templates.</a:t>
            </a:r>
          </a:p>
          <a:p>
            <a:pPr>
              <a:spcBef>
                <a:spcPts val="900"/>
              </a:spcBef>
              <a:defRPr sz="950">
                <a:solidFill>
                  <a:srgbClr val="1E293B"/>
                </a:solidFill>
                <a:latin typeface="Arial"/>
              </a:defRPr>
            </a:pPr>
            <a:r>
              <a:t>• Dual-Engine Database Adapter: Dynamically detects DATABASE_URL for 24/7 cloud persistence via Neon PostgreSQL while supporting local development on SQLite3 with zero code changes.</a:t>
            </a:r>
          </a:p>
          <a:p>
            <a:pPr>
              <a:spcBef>
                <a:spcPts val="900"/>
              </a:spcBef>
              <a:defRPr sz="950">
                <a:solidFill>
                  <a:srgbClr val="1E293B"/>
                </a:solidFill>
                <a:latin typeface="Arial"/>
              </a:defRPr>
            </a:pPr>
            <a:r>
              <a:t>• Client-Side Web Audio Engine: Utilizes HTML5 AudioContext to synthesize native dual-frequency ringtones without heavy audio asset files or external dependencies.</a:t>
            </a:r>
          </a:p>
          <a:p>
            <a:pPr>
              <a:spcBef>
                <a:spcPts val="900"/>
              </a:spcBef>
              <a:defRPr sz="950">
                <a:solidFill>
                  <a:srgbClr val="1E293B"/>
                </a:solidFill>
                <a:latin typeface="Arial"/>
              </a:defRPr>
            </a:pPr>
            <a:r>
              <a:t>• Production WSGI Orchestration: Configured with Gunicorn multi-worker WSGI server for reliable production deployment on Render Cloud paired with GitHub CI/CD webhooks.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g_1.png"/>
          <p:cNvPicPr>
            <a:picLocks noChangeAspect="1"/>
          </p:cNvPicPr>
          <p:nvPr/>
        </p:nvPicPr>
        <p:blipFill>
          <a:blip r:embed="rId2"/>
          <a:stretch>
            <a:fillRect/>
          </a:stretch>
        </p:blipFill>
        <p:spPr>
          <a:xfrm>
            <a:off x="10058400" y="256032"/>
            <a:ext cx="1737360" cy="713232"/>
          </a:xfrm>
          <a:prstGeom prst="rect">
            <a:avLst/>
          </a:prstGeom>
        </p:spPr>
      </p:pic>
      <p:sp>
        <p:nvSpPr>
          <p:cNvPr id="3" name="TextBox 2"/>
          <p:cNvSpPr txBox="1"/>
          <p:nvPr/>
        </p:nvSpPr>
        <p:spPr>
          <a:xfrm>
            <a:off x="594360" y="228600"/>
            <a:ext cx="8686800" cy="411480"/>
          </a:xfrm>
          <a:prstGeom prst="rect">
            <a:avLst/>
          </a:prstGeom>
          <a:noFill/>
        </p:spPr>
        <p:txBody>
          <a:bodyPr wrap="square" lIns="0" tIns="0" rIns="0" bIns="0">
            <a:spAutoFit/>
          </a:bodyPr>
          <a:lstStyle/>
          <a:p>
            <a:pPr>
              <a:defRPr sz="1300" b="1">
                <a:solidFill>
                  <a:srgbClr val="282A64"/>
                </a:solidFill>
                <a:latin typeface="Arial"/>
              </a:defRPr>
            </a:pPr>
            <a:r>
              <a:t>Department of Computer Science and Business Systems</a:t>
            </a:r>
          </a:p>
          <a:p>
            <a:pPr>
              <a:defRPr sz="1000" b="1">
                <a:solidFill>
                  <a:srgbClr val="B04A1B"/>
                </a:solidFill>
                <a:latin typeface="Arial"/>
              </a:defRPr>
            </a:pPr>
            <a:r>
              <a:t>Database Design &amp; Modules</a:t>
            </a:r>
          </a:p>
        </p:txBody>
      </p:sp>
      <p:sp>
        <p:nvSpPr>
          <p:cNvPr id="4" name="TextBox 3"/>
          <p:cNvSpPr txBox="1"/>
          <p:nvPr/>
        </p:nvSpPr>
        <p:spPr>
          <a:xfrm>
            <a:off x="10515600" y="6309360"/>
            <a:ext cx="1097280" cy="365760"/>
          </a:xfrm>
          <a:prstGeom prst="rect">
            <a:avLst/>
          </a:prstGeom>
          <a:noFill/>
        </p:spPr>
        <p:txBody>
          <a:bodyPr wrap="none">
            <a:spAutoFit/>
          </a:bodyPr>
          <a:lstStyle/>
          <a:p>
            <a:pPr algn="r">
              <a:defRPr sz="1200" b="1">
                <a:solidFill>
                  <a:srgbClr val="282A64"/>
                </a:solidFill>
                <a:latin typeface="Arial"/>
              </a:defRPr>
            </a:pPr>
            <a:r>
              <a:t>7</a:t>
            </a:r>
          </a:p>
        </p:txBody>
      </p:sp>
      <p:sp>
        <p:nvSpPr>
          <p:cNvPr id="5" name="Rectangle 4"/>
          <p:cNvSpPr/>
          <p:nvPr/>
        </p:nvSpPr>
        <p:spPr>
          <a:xfrm>
            <a:off x="594360" y="6263640"/>
            <a:ext cx="109728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457200"/>
          </a:xfrm>
          <a:prstGeom prst="rect">
            <a:avLst/>
          </a:prstGeom>
          <a:noFill/>
        </p:spPr>
        <p:txBody>
          <a:bodyPr wrap="none">
            <a:spAutoFit/>
          </a:bodyPr>
          <a:lstStyle/>
          <a:p>
            <a:pPr>
              <a:defRPr sz="1800" b="1">
                <a:solidFill>
                  <a:srgbClr val="282A64"/>
                </a:solidFill>
                <a:latin typeface="Arial"/>
              </a:defRPr>
            </a:pPr>
            <a:r>
              <a:t>Database Relational Schema &amp; 6 Core Modules</a:t>
            </a:r>
          </a:p>
        </p:txBody>
      </p:sp>
      <p:sp>
        <p:nvSpPr>
          <p:cNvPr id="7" name="Rounded Rectangle 6"/>
          <p:cNvSpPr/>
          <p:nvPr/>
        </p:nvSpPr>
        <p:spPr>
          <a:xfrm>
            <a:off x="594360" y="1463040"/>
            <a:ext cx="3474720" cy="2057400"/>
          </a:xfrm>
          <a:prstGeom prst="roundRect">
            <a:avLst/>
          </a:prstGeom>
          <a:solidFill>
            <a:srgbClr val="F0F4F8"/>
          </a:solidFill>
          <a:ln w="1524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282A64"/>
                </a:solidFill>
                <a:latin typeface="Arial"/>
              </a:defRPr>
            </a:pPr>
            <a:r>
              <a:t>1. users</a:t>
            </a:r>
          </a:p>
          <a:p>
            <a:pPr>
              <a:spcBef>
                <a:spcPts val="200"/>
              </a:spcBef>
              <a:defRPr sz="850">
                <a:solidFill>
                  <a:srgbClr val="B04A1B"/>
                </a:solidFill>
                <a:latin typeface="Arial"/>
              </a:defRPr>
            </a:pPr>
            <a:r>
              <a:t>Primary user accounts &amp; authentication</a:t>
            </a:r>
          </a:p>
          <a:p>
            <a:pPr>
              <a:spcBef>
                <a:spcPts val="200"/>
              </a:spcBef>
              <a:defRPr sz="800">
                <a:solidFill>
                  <a:srgbClr val="1E293B"/>
                </a:solidFill>
                <a:latin typeface="Arial"/>
              </a:defRPr>
            </a:pPr>
            <a:r>
              <a:t>• id (PK): Unique user identifier</a:t>
            </a:r>
          </a:p>
          <a:p>
            <a:pPr>
              <a:spcBef>
                <a:spcPts val="200"/>
              </a:spcBef>
              <a:defRPr sz="800">
                <a:solidFill>
                  <a:srgbClr val="1E293B"/>
                </a:solidFill>
                <a:latin typeface="Arial"/>
              </a:defRPr>
            </a:pPr>
            <a:r>
              <a:t>• name, email, phone: Contact details</a:t>
            </a:r>
          </a:p>
          <a:p>
            <a:pPr>
              <a:spcBef>
                <a:spcPts val="200"/>
              </a:spcBef>
              <a:defRPr sz="800">
                <a:solidFill>
                  <a:srgbClr val="1E293B"/>
                </a:solidFill>
                <a:latin typeface="Arial"/>
              </a:defRPr>
            </a:pPr>
            <a:r>
              <a:t>• password_hash: PBKDF2:SHA256 encrypted</a:t>
            </a:r>
          </a:p>
          <a:p>
            <a:pPr>
              <a:spcBef>
                <a:spcPts val="200"/>
              </a:spcBef>
              <a:defRPr sz="800">
                <a:solidFill>
                  <a:srgbClr val="1E293B"/>
                </a:solidFill>
                <a:latin typeface="Arial"/>
              </a:defRPr>
            </a:pPr>
            <a:r>
              <a:t>• role: 'customer' | 'shopper' | 'admin'</a:t>
            </a:r>
          </a:p>
          <a:p>
            <a:pPr>
              <a:spcBef>
                <a:spcPts val="200"/>
              </a:spcBef>
              <a:defRPr sz="800">
                <a:solidFill>
                  <a:srgbClr val="1E293B"/>
                </a:solidFill>
                <a:latin typeface="Arial"/>
              </a:defRPr>
            </a:pPr>
            <a:r>
              <a:t>• wallet_balance, is_verified: KYC status</a:t>
            </a:r>
          </a:p>
        </p:txBody>
      </p:sp>
      <p:sp>
        <p:nvSpPr>
          <p:cNvPr id="8" name="Rounded Rectangle 7"/>
          <p:cNvSpPr/>
          <p:nvPr/>
        </p:nvSpPr>
        <p:spPr>
          <a:xfrm>
            <a:off x="4343400" y="1463040"/>
            <a:ext cx="3474720" cy="2057400"/>
          </a:xfrm>
          <a:prstGeom prst="roundRect">
            <a:avLst/>
          </a:prstGeom>
          <a:solidFill>
            <a:srgbClr val="F0F4F8"/>
          </a:solidFill>
          <a:ln w="1524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282A64"/>
                </a:solidFill>
                <a:latin typeface="Arial"/>
              </a:defRPr>
            </a:pPr>
            <a:r>
              <a:t>2. shops</a:t>
            </a:r>
          </a:p>
          <a:p>
            <a:pPr>
              <a:spcBef>
                <a:spcPts val="200"/>
              </a:spcBef>
              <a:defRPr sz="850">
                <a:solidFill>
                  <a:srgbClr val="B04A1B"/>
                </a:solidFill>
                <a:latin typeface="Arial"/>
              </a:defRPr>
            </a:pPr>
            <a:r>
              <a:t>Registered campus storefronts</a:t>
            </a:r>
          </a:p>
          <a:p>
            <a:pPr>
              <a:spcBef>
                <a:spcPts val="200"/>
              </a:spcBef>
              <a:defRPr sz="800">
                <a:solidFill>
                  <a:srgbClr val="1E293B"/>
                </a:solidFill>
                <a:latin typeface="Arial"/>
              </a:defRPr>
            </a:pPr>
            <a:r>
              <a:t>• id (PK): Unique store identifier</a:t>
            </a:r>
          </a:p>
          <a:p>
            <a:pPr>
              <a:spcBef>
                <a:spcPts val="200"/>
              </a:spcBef>
              <a:defRPr sz="800">
                <a:solidFill>
                  <a:srgbClr val="1E293B"/>
                </a:solidFill>
                <a:latin typeface="Arial"/>
              </a:defRPr>
            </a:pPr>
            <a:r>
              <a:t>• owner_id (FK -&gt; users.id): Merchant</a:t>
            </a:r>
          </a:p>
          <a:p>
            <a:pPr>
              <a:spcBef>
                <a:spcPts val="200"/>
              </a:spcBef>
              <a:defRPr sz="800">
                <a:solidFill>
                  <a:srgbClr val="1E293B"/>
                </a:solidFill>
                <a:latin typeface="Arial"/>
              </a:defRPr>
            </a:pPr>
            <a:r>
              <a:t>• shop_name, category: Store info</a:t>
            </a:r>
          </a:p>
          <a:p>
            <a:pPr>
              <a:spcBef>
                <a:spcPts val="200"/>
              </a:spcBef>
              <a:defRPr sz="800">
                <a:solidFill>
                  <a:srgbClr val="1E293B"/>
                </a:solidFill>
                <a:latin typeface="Arial"/>
              </a:defRPr>
            </a:pPr>
            <a:r>
              <a:t>• address, phone: Physical campus location</a:t>
            </a:r>
          </a:p>
          <a:p>
            <a:pPr>
              <a:spcBef>
                <a:spcPts val="200"/>
              </a:spcBef>
              <a:defRPr sz="800">
                <a:solidFill>
                  <a:srgbClr val="1E293B"/>
                </a:solidFill>
                <a:latin typeface="Arial"/>
              </a:defRPr>
            </a:pPr>
            <a:r>
              <a:t>• is_active: Active store listing flag</a:t>
            </a:r>
          </a:p>
        </p:txBody>
      </p:sp>
      <p:sp>
        <p:nvSpPr>
          <p:cNvPr id="9" name="Rounded Rectangle 8"/>
          <p:cNvSpPr/>
          <p:nvPr/>
        </p:nvSpPr>
        <p:spPr>
          <a:xfrm>
            <a:off x="8092440" y="1463040"/>
            <a:ext cx="3474720" cy="2057400"/>
          </a:xfrm>
          <a:prstGeom prst="roundRect">
            <a:avLst/>
          </a:prstGeom>
          <a:solidFill>
            <a:srgbClr val="F0F4F8"/>
          </a:solidFill>
          <a:ln w="1524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282A64"/>
                </a:solidFill>
                <a:latin typeface="Arial"/>
              </a:defRPr>
            </a:pPr>
            <a:r>
              <a:t>3. products</a:t>
            </a:r>
          </a:p>
          <a:p>
            <a:pPr>
              <a:spcBef>
                <a:spcPts val="200"/>
              </a:spcBef>
              <a:defRPr sz="850">
                <a:solidFill>
                  <a:srgbClr val="B04A1B"/>
                </a:solidFill>
                <a:latin typeface="Arial"/>
              </a:defRPr>
            </a:pPr>
            <a:r>
              <a:t>Inventory catalog items</a:t>
            </a:r>
          </a:p>
          <a:p>
            <a:pPr>
              <a:spcBef>
                <a:spcPts val="200"/>
              </a:spcBef>
              <a:defRPr sz="800">
                <a:solidFill>
                  <a:srgbClr val="1E293B"/>
                </a:solidFill>
                <a:latin typeface="Arial"/>
              </a:defRPr>
            </a:pPr>
            <a:r>
              <a:t>• id (PK): Unique item identifier</a:t>
            </a:r>
          </a:p>
          <a:p>
            <a:pPr>
              <a:spcBef>
                <a:spcPts val="200"/>
              </a:spcBef>
              <a:defRPr sz="800">
                <a:solidFill>
                  <a:srgbClr val="1E293B"/>
                </a:solidFill>
                <a:latin typeface="Arial"/>
              </a:defRPr>
            </a:pPr>
            <a:r>
              <a:t>• shop_id (FK -&gt; shops.id): Parent store</a:t>
            </a:r>
          </a:p>
          <a:p>
            <a:pPr>
              <a:spcBef>
                <a:spcPts val="200"/>
              </a:spcBef>
              <a:defRPr sz="800">
                <a:solidFill>
                  <a:srgbClr val="1E293B"/>
                </a:solidFill>
                <a:latin typeface="Arial"/>
              </a:defRPr>
            </a:pPr>
            <a:r>
              <a:t>• name, category, price: Item details</a:t>
            </a:r>
          </a:p>
          <a:p>
            <a:pPr>
              <a:spcBef>
                <a:spcPts val="200"/>
              </a:spcBef>
              <a:defRPr sz="800">
                <a:solidFill>
                  <a:srgbClr val="1E293B"/>
                </a:solidFill>
                <a:latin typeface="Arial"/>
              </a:defRPr>
            </a:pPr>
            <a:r>
              <a:t>• description, image: Product specs</a:t>
            </a:r>
          </a:p>
          <a:p>
            <a:pPr>
              <a:spcBef>
                <a:spcPts val="200"/>
              </a:spcBef>
              <a:defRPr sz="800">
                <a:solidFill>
                  <a:srgbClr val="1E293B"/>
                </a:solidFill>
                <a:latin typeface="Arial"/>
              </a:defRPr>
            </a:pPr>
            <a:r>
              <a:t>• in_stock: Real-time availability flag</a:t>
            </a:r>
          </a:p>
        </p:txBody>
      </p:sp>
      <p:sp>
        <p:nvSpPr>
          <p:cNvPr id="10" name="Rounded Rectangle 9"/>
          <p:cNvSpPr/>
          <p:nvPr/>
        </p:nvSpPr>
        <p:spPr>
          <a:xfrm>
            <a:off x="594360" y="3794760"/>
            <a:ext cx="3474720" cy="2057400"/>
          </a:xfrm>
          <a:prstGeom prst="roundRect">
            <a:avLst/>
          </a:prstGeom>
          <a:solidFill>
            <a:srgbClr val="F0F4F8"/>
          </a:solidFill>
          <a:ln w="1524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282A64"/>
                </a:solidFill>
                <a:latin typeface="Arial"/>
              </a:defRPr>
            </a:pPr>
            <a:r>
              <a:t>4. cart_items</a:t>
            </a:r>
          </a:p>
          <a:p>
            <a:pPr>
              <a:spcBef>
                <a:spcPts val="200"/>
              </a:spcBef>
              <a:defRPr sz="850">
                <a:solidFill>
                  <a:srgbClr val="B04A1B"/>
                </a:solidFill>
                <a:latin typeface="Arial"/>
              </a:defRPr>
            </a:pPr>
            <a:r>
              <a:t>Shopping session cart items</a:t>
            </a:r>
          </a:p>
          <a:p>
            <a:pPr>
              <a:spcBef>
                <a:spcPts val="200"/>
              </a:spcBef>
              <a:defRPr sz="800">
                <a:solidFill>
                  <a:srgbClr val="1E293B"/>
                </a:solidFill>
                <a:latin typeface="Arial"/>
              </a:defRPr>
            </a:pPr>
            <a:r>
              <a:t>• id (PK): Unique cart item record</a:t>
            </a:r>
          </a:p>
          <a:p>
            <a:pPr>
              <a:spcBef>
                <a:spcPts val="200"/>
              </a:spcBef>
              <a:defRPr sz="800">
                <a:solidFill>
                  <a:srgbClr val="1E293B"/>
                </a:solidFill>
                <a:latin typeface="Arial"/>
              </a:defRPr>
            </a:pPr>
            <a:r>
              <a:t>• user_id (FK -&gt; users.id): Buyer</a:t>
            </a:r>
          </a:p>
          <a:p>
            <a:pPr>
              <a:spcBef>
                <a:spcPts val="200"/>
              </a:spcBef>
              <a:defRPr sz="800">
                <a:solidFill>
                  <a:srgbClr val="1E293B"/>
                </a:solidFill>
                <a:latin typeface="Arial"/>
              </a:defRPr>
            </a:pPr>
            <a:r>
              <a:t>• product_id (FK -&gt; products.id): Item</a:t>
            </a:r>
          </a:p>
          <a:p>
            <a:pPr>
              <a:spcBef>
                <a:spcPts val="200"/>
              </a:spcBef>
              <a:defRPr sz="800">
                <a:solidFill>
                  <a:srgbClr val="1E293B"/>
                </a:solidFill>
                <a:latin typeface="Arial"/>
              </a:defRPr>
            </a:pPr>
            <a:r>
              <a:t>• quantity: Units ordered</a:t>
            </a:r>
          </a:p>
          <a:p>
            <a:pPr>
              <a:spcBef>
                <a:spcPts val="200"/>
              </a:spcBef>
              <a:defRPr sz="800">
                <a:solidFill>
                  <a:srgbClr val="1E293B"/>
                </a:solidFill>
                <a:latin typeface="Arial"/>
              </a:defRPr>
            </a:pPr>
            <a:r>
              <a:t>• created_at: Cart item timestamp</a:t>
            </a:r>
          </a:p>
        </p:txBody>
      </p:sp>
      <p:sp>
        <p:nvSpPr>
          <p:cNvPr id="11" name="Rounded Rectangle 10"/>
          <p:cNvSpPr/>
          <p:nvPr/>
        </p:nvSpPr>
        <p:spPr>
          <a:xfrm>
            <a:off x="4343400" y="3794760"/>
            <a:ext cx="3474720" cy="2057400"/>
          </a:xfrm>
          <a:prstGeom prst="roundRect">
            <a:avLst/>
          </a:prstGeom>
          <a:solidFill>
            <a:srgbClr val="F0F4F8"/>
          </a:solidFill>
          <a:ln w="1524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282A64"/>
                </a:solidFill>
                <a:latin typeface="Arial"/>
              </a:defRPr>
            </a:pPr>
            <a:r>
              <a:t>5. orders</a:t>
            </a:r>
          </a:p>
          <a:p>
            <a:pPr>
              <a:spcBef>
                <a:spcPts val="200"/>
              </a:spcBef>
              <a:defRPr sz="850">
                <a:solidFill>
                  <a:srgbClr val="B04A1B"/>
                </a:solidFill>
                <a:latin typeface="Arial"/>
              </a:defRPr>
            </a:pPr>
            <a:r>
              <a:t>Central 3-party logistics ledger</a:t>
            </a:r>
          </a:p>
          <a:p>
            <a:pPr>
              <a:spcBef>
                <a:spcPts val="200"/>
              </a:spcBef>
              <a:defRPr sz="800">
                <a:solidFill>
                  <a:srgbClr val="1E293B"/>
                </a:solidFill>
                <a:latin typeface="Arial"/>
              </a:defRPr>
            </a:pPr>
            <a:r>
              <a:t>• id (PK): Unique order identifier</a:t>
            </a:r>
          </a:p>
          <a:p>
            <a:pPr>
              <a:spcBef>
                <a:spcPts val="200"/>
              </a:spcBef>
              <a:defRPr sz="800">
                <a:solidFill>
                  <a:srgbClr val="1E293B"/>
                </a:solidFill>
                <a:latin typeface="Arial"/>
              </a:defRPr>
            </a:pPr>
            <a:r>
              <a:t>• customer_id, commuter_id, shop_id (FK)</a:t>
            </a:r>
          </a:p>
          <a:p>
            <a:pPr>
              <a:spcBef>
                <a:spcPts val="200"/>
              </a:spcBef>
              <a:defRPr sz="800">
                <a:solidFill>
                  <a:srgbClr val="1E293B"/>
                </a:solidFill>
                <a:latin typeface="Arial"/>
              </a:defRPr>
            </a:pPr>
            <a:r>
              <a:t>• product_amount, delivery_fee, total_amount</a:t>
            </a:r>
          </a:p>
          <a:p>
            <a:pPr>
              <a:spcBef>
                <a:spcPts val="200"/>
              </a:spcBef>
              <a:defRPr sz="800">
                <a:solidFill>
                  <a:srgbClr val="1E293B"/>
                </a:solidFill>
                <a:latin typeface="Arial"/>
              </a:defRPr>
            </a:pPr>
            <a:r>
              <a:t>• pickup_otp, delivery_otp: Verification codes</a:t>
            </a:r>
          </a:p>
          <a:p>
            <a:pPr>
              <a:spcBef>
                <a:spcPts val="200"/>
              </a:spcBef>
              <a:defRPr sz="800">
                <a:solidFill>
                  <a:srgbClr val="1E293B"/>
                </a:solidFill>
                <a:latin typeface="Arial"/>
              </a:defRPr>
            </a:pPr>
            <a:r>
              <a:t>• status, feedback_rating (1-5), comment</a:t>
            </a:r>
          </a:p>
        </p:txBody>
      </p:sp>
      <p:sp>
        <p:nvSpPr>
          <p:cNvPr id="12" name="Rounded Rectangle 11"/>
          <p:cNvSpPr/>
          <p:nvPr/>
        </p:nvSpPr>
        <p:spPr>
          <a:xfrm>
            <a:off x="8092440" y="3794760"/>
            <a:ext cx="3474720" cy="2057400"/>
          </a:xfrm>
          <a:prstGeom prst="roundRect">
            <a:avLst/>
          </a:prstGeom>
          <a:solidFill>
            <a:srgbClr val="F0F4F8"/>
          </a:solidFill>
          <a:ln w="1524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282A64"/>
                </a:solidFill>
                <a:latin typeface="Arial"/>
              </a:defRPr>
            </a:pPr>
            <a:r>
              <a:t>6. wallet_transactions</a:t>
            </a:r>
          </a:p>
          <a:p>
            <a:pPr>
              <a:spcBef>
                <a:spcPts val="200"/>
              </a:spcBef>
              <a:defRPr sz="850">
                <a:solidFill>
                  <a:srgbClr val="B04A1B"/>
                </a:solidFill>
                <a:latin typeface="Arial"/>
              </a:defRPr>
            </a:pPr>
            <a:r>
              <a:t>Immutable financial audit ledger</a:t>
            </a:r>
          </a:p>
          <a:p>
            <a:pPr>
              <a:spcBef>
                <a:spcPts val="200"/>
              </a:spcBef>
              <a:defRPr sz="800">
                <a:solidFill>
                  <a:srgbClr val="1E293B"/>
                </a:solidFill>
                <a:latin typeface="Arial"/>
              </a:defRPr>
            </a:pPr>
            <a:r>
              <a:t>• id (PK): Unique transaction identifier</a:t>
            </a:r>
          </a:p>
          <a:p>
            <a:pPr>
              <a:spcBef>
                <a:spcPts val="200"/>
              </a:spcBef>
              <a:defRPr sz="800">
                <a:solidFill>
                  <a:srgbClr val="1E293B"/>
                </a:solidFill>
                <a:latin typeface="Arial"/>
              </a:defRPr>
            </a:pPr>
            <a:r>
              <a:t>• user_id (FK -&gt; users.id): Account owner</a:t>
            </a:r>
          </a:p>
          <a:p>
            <a:pPr>
              <a:spcBef>
                <a:spcPts val="200"/>
              </a:spcBef>
              <a:defRPr sz="800">
                <a:solidFill>
                  <a:srgbClr val="1E293B"/>
                </a:solidFill>
                <a:latin typeface="Arial"/>
              </a:defRPr>
            </a:pPr>
            <a:r>
              <a:t>• order_id (FK -&gt; orders.id): Source order</a:t>
            </a:r>
          </a:p>
          <a:p>
            <a:pPr>
              <a:spcBef>
                <a:spcPts val="200"/>
              </a:spcBef>
              <a:defRPr sz="800">
                <a:solidFill>
                  <a:srgbClr val="1E293B"/>
                </a:solidFill>
                <a:latin typeface="Arial"/>
              </a:defRPr>
            </a:pPr>
            <a:r>
              <a:t>• amount, type: Credit/debit classification</a:t>
            </a:r>
          </a:p>
          <a:p>
            <a:pPr>
              <a:spcBef>
                <a:spcPts val="200"/>
              </a:spcBef>
              <a:defRPr sz="800">
                <a:solidFill>
                  <a:srgbClr val="1E293B"/>
                </a:solidFill>
                <a:latin typeface="Arial"/>
              </a:defRPr>
            </a:pPr>
            <a:r>
              <a:t>• description: Transaction details (#TXN-xxx)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g_1.png"/>
          <p:cNvPicPr>
            <a:picLocks noChangeAspect="1"/>
          </p:cNvPicPr>
          <p:nvPr/>
        </p:nvPicPr>
        <p:blipFill>
          <a:blip r:embed="rId2"/>
          <a:stretch>
            <a:fillRect/>
          </a:stretch>
        </p:blipFill>
        <p:spPr>
          <a:xfrm>
            <a:off x="10058400" y="256032"/>
            <a:ext cx="1737360" cy="713232"/>
          </a:xfrm>
          <a:prstGeom prst="rect">
            <a:avLst/>
          </a:prstGeom>
        </p:spPr>
      </p:pic>
      <p:sp>
        <p:nvSpPr>
          <p:cNvPr id="3" name="TextBox 2"/>
          <p:cNvSpPr txBox="1"/>
          <p:nvPr/>
        </p:nvSpPr>
        <p:spPr>
          <a:xfrm>
            <a:off x="594360" y="228600"/>
            <a:ext cx="8686800" cy="411480"/>
          </a:xfrm>
          <a:prstGeom prst="rect">
            <a:avLst/>
          </a:prstGeom>
          <a:noFill/>
        </p:spPr>
        <p:txBody>
          <a:bodyPr wrap="square" lIns="0" tIns="0" rIns="0" bIns="0">
            <a:spAutoFit/>
          </a:bodyPr>
          <a:lstStyle/>
          <a:p>
            <a:pPr>
              <a:defRPr sz="1300" b="1">
                <a:solidFill>
                  <a:srgbClr val="282A64"/>
                </a:solidFill>
                <a:latin typeface="Arial"/>
              </a:defRPr>
            </a:pPr>
            <a:r>
              <a:t>Department of Computer Science and Business Systems</a:t>
            </a:r>
          </a:p>
          <a:p>
            <a:pPr>
              <a:defRPr sz="1000" b="1">
                <a:solidFill>
                  <a:srgbClr val="B04A1B"/>
                </a:solidFill>
                <a:latin typeface="Arial"/>
              </a:defRPr>
            </a:pPr>
            <a:r>
              <a:t>Security, Payment &amp; Verification</a:t>
            </a:r>
          </a:p>
        </p:txBody>
      </p:sp>
      <p:sp>
        <p:nvSpPr>
          <p:cNvPr id="4" name="TextBox 3"/>
          <p:cNvSpPr txBox="1"/>
          <p:nvPr/>
        </p:nvSpPr>
        <p:spPr>
          <a:xfrm>
            <a:off x="10515600" y="6309360"/>
            <a:ext cx="1097280" cy="365760"/>
          </a:xfrm>
          <a:prstGeom prst="rect">
            <a:avLst/>
          </a:prstGeom>
          <a:noFill/>
        </p:spPr>
        <p:txBody>
          <a:bodyPr wrap="none">
            <a:spAutoFit/>
          </a:bodyPr>
          <a:lstStyle/>
          <a:p>
            <a:pPr algn="r">
              <a:defRPr sz="1200" b="1">
                <a:solidFill>
                  <a:srgbClr val="282A64"/>
                </a:solidFill>
                <a:latin typeface="Arial"/>
              </a:defRPr>
            </a:pPr>
            <a:r>
              <a:t>8</a:t>
            </a:r>
          </a:p>
        </p:txBody>
      </p:sp>
      <p:sp>
        <p:nvSpPr>
          <p:cNvPr id="5" name="Rectangle 4"/>
          <p:cNvSpPr/>
          <p:nvPr/>
        </p:nvSpPr>
        <p:spPr>
          <a:xfrm>
            <a:off x="594360" y="6263640"/>
            <a:ext cx="109728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457200"/>
          </a:xfrm>
          <a:prstGeom prst="rect">
            <a:avLst/>
          </a:prstGeom>
          <a:noFill/>
        </p:spPr>
        <p:txBody>
          <a:bodyPr wrap="none">
            <a:spAutoFit/>
          </a:bodyPr>
          <a:lstStyle/>
          <a:p>
            <a:pPr>
              <a:defRPr sz="1800" b="1">
                <a:solidFill>
                  <a:srgbClr val="282A64"/>
                </a:solidFill>
                <a:latin typeface="Arial"/>
              </a:defRPr>
            </a:pPr>
            <a:r>
              <a:t>Security Architecture, Escrow Protocols &amp; Verification</a:t>
            </a:r>
          </a:p>
        </p:txBody>
      </p:sp>
      <p:sp>
        <p:nvSpPr>
          <p:cNvPr id="7" name="Rounded Rectangle 6"/>
          <p:cNvSpPr/>
          <p:nvPr/>
        </p:nvSpPr>
        <p:spPr>
          <a:xfrm>
            <a:off x="594360" y="1463040"/>
            <a:ext cx="5303520" cy="210312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200" b="1">
                <a:solidFill>
                  <a:srgbClr val="282A64"/>
                </a:solidFill>
                <a:latin typeface="Arial"/>
              </a:defRPr>
            </a:pPr>
            <a:r>
              <a:t>Advance Escrow Payment Protocol</a:t>
            </a:r>
          </a:p>
          <a:p>
            <a:pPr>
              <a:spcBef>
                <a:spcPts val="400"/>
              </a:spcBef>
              <a:defRPr sz="900">
                <a:solidFill>
                  <a:srgbClr val="1E293B"/>
                </a:solidFill>
                <a:latin typeface="Arial"/>
              </a:defRPr>
            </a:pPr>
            <a:r>
              <a:t>• Customer pays 100% upfront (Product Cost + Delivery Fee) via dynamic UPI QR gateway.</a:t>
            </a:r>
          </a:p>
          <a:p>
            <a:pPr>
              <a:spcBef>
                <a:spcPts val="400"/>
              </a:spcBef>
              <a:defRPr sz="900">
                <a:solidFill>
                  <a:srgbClr val="1E293B"/>
                </a:solidFill>
                <a:latin typeface="Arial"/>
              </a:defRPr>
            </a:pPr>
            <a:r>
              <a:t>• Funds are locked in Platform Escrow; neither deliverer nor merchant handles customer cash.</a:t>
            </a:r>
          </a:p>
          <a:p>
            <a:pPr>
              <a:spcBef>
                <a:spcPts val="400"/>
              </a:spcBef>
              <a:defRPr sz="900">
                <a:solidFill>
                  <a:srgbClr val="1E293B"/>
                </a:solidFill>
                <a:latin typeface="Arial"/>
              </a:defRPr>
            </a:pPr>
            <a:r>
              <a:t>• Eliminates customer refusal, late payments, and order cancellations after purchase.</a:t>
            </a:r>
          </a:p>
          <a:p>
            <a:pPr>
              <a:spcBef>
                <a:spcPts val="400"/>
              </a:spcBef>
              <a:defRPr sz="900">
                <a:solidFill>
                  <a:srgbClr val="1E293B"/>
                </a:solidFill>
                <a:latin typeface="Arial"/>
              </a:defRPr>
            </a:pPr>
            <a:r>
              <a:t>• Automatic refund guarantee in case of canceled or unaccepted orders.</a:t>
            </a:r>
          </a:p>
        </p:txBody>
      </p:sp>
      <p:sp>
        <p:nvSpPr>
          <p:cNvPr id="8" name="Rounded Rectangle 7"/>
          <p:cNvSpPr/>
          <p:nvPr/>
        </p:nvSpPr>
        <p:spPr>
          <a:xfrm>
            <a:off x="6263640" y="1463040"/>
            <a:ext cx="5303520" cy="2103120"/>
          </a:xfrm>
          <a:prstGeom prst="roundRect">
            <a:avLst/>
          </a:prstGeom>
          <a:solidFill>
            <a:srgbClr val="F0F4F8"/>
          </a:solidFill>
          <a:ln w="19050">
            <a:solidFill>
              <a:srgbClr val="B04A1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200" b="1">
                <a:solidFill>
                  <a:srgbClr val="B04A1B"/>
                </a:solidFill>
                <a:latin typeface="Arial"/>
              </a:defRPr>
            </a:pPr>
            <a:r>
              <a:t>Physical 4-Digit Handover OTP</a:t>
            </a:r>
          </a:p>
          <a:p>
            <a:pPr>
              <a:spcBef>
                <a:spcPts val="400"/>
              </a:spcBef>
              <a:defRPr sz="900">
                <a:solidFill>
                  <a:srgbClr val="1E293B"/>
                </a:solidFill>
                <a:latin typeface="Arial"/>
              </a:defRPr>
            </a:pPr>
            <a:r>
              <a:t>• Random 4-digit numeric OTP generated at order creation, visible exclusively to the buyer.</a:t>
            </a:r>
          </a:p>
          <a:p>
            <a:pPr>
              <a:spcBef>
                <a:spcPts val="400"/>
              </a:spcBef>
              <a:defRPr sz="900">
                <a:solidFill>
                  <a:srgbClr val="1E293B"/>
                </a:solidFill>
                <a:latin typeface="Arial"/>
              </a:defRPr>
            </a:pPr>
            <a:r>
              <a:t>• Customer shares the code ONLY after physically receiving and inspecting products at hostel door.</a:t>
            </a:r>
          </a:p>
          <a:p>
            <a:pPr>
              <a:spcBef>
                <a:spcPts val="400"/>
              </a:spcBef>
              <a:defRPr sz="900">
                <a:solidFill>
                  <a:srgbClr val="1E293B"/>
                </a:solidFill>
                <a:latin typeface="Arial"/>
              </a:defRPr>
            </a:pPr>
            <a:r>
              <a:t>• Deliverer cannot complete order or claim payout without verifying this secret token in the app.</a:t>
            </a:r>
          </a:p>
          <a:p>
            <a:pPr>
              <a:spcBef>
                <a:spcPts val="400"/>
              </a:spcBef>
              <a:defRPr sz="900">
                <a:solidFill>
                  <a:srgbClr val="1E293B"/>
                </a:solidFill>
                <a:latin typeface="Arial"/>
              </a:defRPr>
            </a:pPr>
            <a:r>
              <a:t>• Completely eliminates false delivery claims and disputes.</a:t>
            </a:r>
          </a:p>
        </p:txBody>
      </p:sp>
      <p:sp>
        <p:nvSpPr>
          <p:cNvPr id="9" name="Rounded Rectangle 8"/>
          <p:cNvSpPr/>
          <p:nvPr/>
        </p:nvSpPr>
        <p:spPr>
          <a:xfrm>
            <a:off x="594360" y="3794760"/>
            <a:ext cx="5303520" cy="210312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200" b="1">
                <a:solidFill>
                  <a:srgbClr val="282A64"/>
                </a:solidFill>
                <a:latin typeface="Arial"/>
              </a:defRPr>
            </a:pPr>
            <a:r>
              <a:t>Cryptographic User Authentication</a:t>
            </a:r>
          </a:p>
          <a:p>
            <a:pPr>
              <a:spcBef>
                <a:spcPts val="400"/>
              </a:spcBef>
              <a:defRPr sz="900">
                <a:solidFill>
                  <a:srgbClr val="1E293B"/>
                </a:solidFill>
                <a:latin typeface="Arial"/>
              </a:defRPr>
            </a:pPr>
            <a:r>
              <a:t>• Password Protection: PBKDF2:SHA256 salt-hashed encryption via Werkzeug Security.</a:t>
            </a:r>
          </a:p>
          <a:p>
            <a:pPr>
              <a:spcBef>
                <a:spcPts val="400"/>
              </a:spcBef>
              <a:defRPr sz="900">
                <a:solidFill>
                  <a:srgbClr val="1E293B"/>
                </a:solidFill>
                <a:latin typeface="Arial"/>
              </a:defRPr>
            </a:pPr>
            <a:r>
              <a:t>• Session Security: Cryptographically signed HTTP-only cookies prevent session hijacking.</a:t>
            </a:r>
          </a:p>
          <a:p>
            <a:pPr>
              <a:spcBef>
                <a:spcPts val="400"/>
              </a:spcBef>
              <a:defRPr sz="900">
                <a:solidFill>
                  <a:srgbClr val="1E293B"/>
                </a:solidFill>
                <a:latin typeface="Arial"/>
              </a:defRPr>
            </a:pPr>
            <a:r>
              <a:t>• Role-Based Access Control: Strict decoratored guards (customer_required, shopper_required, admin_required).</a:t>
            </a:r>
          </a:p>
          <a:p>
            <a:pPr>
              <a:spcBef>
                <a:spcPts val="400"/>
              </a:spcBef>
              <a:defRPr sz="900">
                <a:solidFill>
                  <a:srgbClr val="1E293B"/>
                </a:solidFill>
                <a:latin typeface="Arial"/>
              </a:defRPr>
            </a:pPr>
            <a:r>
              <a:t>• Campus Member Verification: Mandatory ID proof check and admin KYC approval toggles.</a:t>
            </a:r>
          </a:p>
        </p:txBody>
      </p:sp>
      <p:sp>
        <p:nvSpPr>
          <p:cNvPr id="10" name="Rounded Rectangle 9"/>
          <p:cNvSpPr/>
          <p:nvPr/>
        </p:nvSpPr>
        <p:spPr>
          <a:xfrm>
            <a:off x="6263640" y="3794760"/>
            <a:ext cx="5303520" cy="2103120"/>
          </a:xfrm>
          <a:prstGeom prst="roundRect">
            <a:avLst/>
          </a:prstGeom>
          <a:solidFill>
            <a:srgbClr val="F0F4F8"/>
          </a:solidFill>
          <a:ln w="19050">
            <a:solidFill>
              <a:srgbClr val="B04A1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200" b="1">
                <a:solidFill>
                  <a:srgbClr val="B04A1B"/>
                </a:solidFill>
                <a:latin typeface="Arial"/>
              </a:defRPr>
            </a:pPr>
            <a:r>
              <a:t>Immutable Financial Ledger</a:t>
            </a:r>
          </a:p>
          <a:p>
            <a:pPr>
              <a:spcBef>
                <a:spcPts val="400"/>
              </a:spcBef>
              <a:defRPr sz="900">
                <a:solidFill>
                  <a:srgbClr val="1E293B"/>
                </a:solidFill>
                <a:latin typeface="Arial"/>
              </a:defRPr>
            </a:pPr>
            <a:r>
              <a:t>• Every wallet balance movement is backed by an atomic record in wallet_transactions.</a:t>
            </a:r>
          </a:p>
          <a:p>
            <a:pPr>
              <a:spcBef>
                <a:spcPts val="400"/>
              </a:spcBef>
              <a:defRPr sz="900">
                <a:solidFill>
                  <a:srgbClr val="1E293B"/>
                </a:solidFill>
                <a:latin typeface="Arial"/>
              </a:defRPr>
            </a:pPr>
            <a:r>
              <a:t>• Unique transaction references (#TXN-xxx) generated for each credit and debit.</a:t>
            </a:r>
          </a:p>
          <a:p>
            <a:pPr>
              <a:spcBef>
                <a:spcPts val="400"/>
              </a:spcBef>
              <a:defRPr sz="900">
                <a:solidFill>
                  <a:srgbClr val="1E293B"/>
                </a:solidFill>
                <a:latin typeface="Arial"/>
              </a:defRPr>
            </a:pPr>
            <a:r>
              <a:t>• Relational foreign key constraints ensure complete financial auditability.</a:t>
            </a:r>
          </a:p>
          <a:p>
            <a:pPr>
              <a:spcBef>
                <a:spcPts val="400"/>
              </a:spcBef>
              <a:defRPr sz="900">
                <a:solidFill>
                  <a:srgbClr val="1E293B"/>
                </a:solidFill>
                <a:latin typeface="Arial"/>
              </a:defRPr>
            </a:pPr>
            <a:r>
              <a:t>• Direct withdrawal integration to registered student/merchant UPI VPAs (@upi).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g_1.png"/>
          <p:cNvPicPr>
            <a:picLocks noChangeAspect="1"/>
          </p:cNvPicPr>
          <p:nvPr/>
        </p:nvPicPr>
        <p:blipFill>
          <a:blip r:embed="rId2"/>
          <a:stretch>
            <a:fillRect/>
          </a:stretch>
        </p:blipFill>
        <p:spPr>
          <a:xfrm>
            <a:off x="10058400" y="256032"/>
            <a:ext cx="1737360" cy="713232"/>
          </a:xfrm>
          <a:prstGeom prst="rect">
            <a:avLst/>
          </a:prstGeom>
        </p:spPr>
      </p:pic>
      <p:sp>
        <p:nvSpPr>
          <p:cNvPr id="3" name="TextBox 2"/>
          <p:cNvSpPr txBox="1"/>
          <p:nvPr/>
        </p:nvSpPr>
        <p:spPr>
          <a:xfrm>
            <a:off x="594360" y="228600"/>
            <a:ext cx="8686800" cy="411480"/>
          </a:xfrm>
          <a:prstGeom prst="rect">
            <a:avLst/>
          </a:prstGeom>
          <a:noFill/>
        </p:spPr>
        <p:txBody>
          <a:bodyPr wrap="square" lIns="0" tIns="0" rIns="0" bIns="0">
            <a:spAutoFit/>
          </a:bodyPr>
          <a:lstStyle/>
          <a:p>
            <a:pPr>
              <a:defRPr sz="1300" b="1">
                <a:solidFill>
                  <a:srgbClr val="282A64"/>
                </a:solidFill>
                <a:latin typeface="Arial"/>
              </a:defRPr>
            </a:pPr>
            <a:r>
              <a:t>Department of Computer Science and Business Systems</a:t>
            </a:r>
          </a:p>
          <a:p>
            <a:pPr>
              <a:defRPr sz="1000" b="1">
                <a:solidFill>
                  <a:srgbClr val="B04A1B"/>
                </a:solidFill>
                <a:latin typeface="Arial"/>
              </a:defRPr>
            </a:pPr>
            <a:r>
              <a:t>Key Innovations, Benefits &amp; Live Demo</a:t>
            </a:r>
          </a:p>
        </p:txBody>
      </p:sp>
      <p:sp>
        <p:nvSpPr>
          <p:cNvPr id="4" name="TextBox 3"/>
          <p:cNvSpPr txBox="1"/>
          <p:nvPr/>
        </p:nvSpPr>
        <p:spPr>
          <a:xfrm>
            <a:off x="10515600" y="6309360"/>
            <a:ext cx="1097280" cy="365760"/>
          </a:xfrm>
          <a:prstGeom prst="rect">
            <a:avLst/>
          </a:prstGeom>
          <a:noFill/>
        </p:spPr>
        <p:txBody>
          <a:bodyPr wrap="none">
            <a:spAutoFit/>
          </a:bodyPr>
          <a:lstStyle/>
          <a:p>
            <a:pPr algn="r">
              <a:defRPr sz="1200" b="1">
                <a:solidFill>
                  <a:srgbClr val="282A64"/>
                </a:solidFill>
                <a:latin typeface="Arial"/>
              </a:defRPr>
            </a:pPr>
            <a:r>
              <a:t>9</a:t>
            </a:r>
          </a:p>
        </p:txBody>
      </p:sp>
      <p:sp>
        <p:nvSpPr>
          <p:cNvPr id="5" name="Rectangle 4"/>
          <p:cNvSpPr/>
          <p:nvPr/>
        </p:nvSpPr>
        <p:spPr>
          <a:xfrm>
            <a:off x="594360" y="6263640"/>
            <a:ext cx="109728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457200"/>
          </a:xfrm>
          <a:prstGeom prst="rect">
            <a:avLst/>
          </a:prstGeom>
          <a:noFill/>
        </p:spPr>
        <p:txBody>
          <a:bodyPr wrap="none">
            <a:spAutoFit/>
          </a:bodyPr>
          <a:lstStyle/>
          <a:p>
            <a:pPr>
              <a:defRPr sz="1800" b="1">
                <a:solidFill>
                  <a:srgbClr val="282A64"/>
                </a:solidFill>
                <a:latin typeface="Arial"/>
              </a:defRPr>
            </a:pPr>
            <a:r>
              <a:t>Platform Innovations, Campus Benefits &amp; Live Application</a:t>
            </a:r>
          </a:p>
        </p:txBody>
      </p:sp>
      <p:sp>
        <p:nvSpPr>
          <p:cNvPr id="7" name="Rounded Rectangle 6"/>
          <p:cNvSpPr/>
          <p:nvPr/>
        </p:nvSpPr>
        <p:spPr>
          <a:xfrm>
            <a:off x="594360" y="1463040"/>
            <a:ext cx="5303520" cy="448056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282A64"/>
                </a:solidFill>
                <a:latin typeface="Arial"/>
              </a:defRPr>
            </a:pPr>
            <a:r>
              <a:t>Key Technical &amp; Functional Innovations</a:t>
            </a:r>
          </a:p>
          <a:p>
            <a:pPr>
              <a:spcBef>
                <a:spcPts val="800"/>
              </a:spcBef>
              <a:defRPr sz="950">
                <a:solidFill>
                  <a:srgbClr val="1E293B"/>
                </a:solidFill>
                <a:latin typeface="Arial"/>
              </a:defRPr>
            </a:pPr>
            <a:r>
              <a:t>• 📞 P2P In-App Live Audio Calling: Built-in Web Audio API dual-oscillator synthesizer (440Hz+480Hz) simulating Indian phone ringing with live timer (00:15), mute mic, speaker toggle, plus direct phone (tel:) and WhatsApp fallbacks.</a:t>
            </a:r>
          </a:p>
          <a:p>
            <a:pPr>
              <a:spcBef>
                <a:spcPts val="800"/>
              </a:spcBef>
              <a:defRPr sz="950">
                <a:solidFill>
                  <a:srgbClr val="1E293B"/>
                </a:solidFill>
                <a:latin typeface="Arial"/>
              </a:defRPr>
            </a:pPr>
            <a:r>
              <a:t>• ⭐ Verified Order Feedback &amp; Ratings: 1-to-5 star rating widget and review submission unlocked on completed orders, displaying verified badges on driver profiles.</a:t>
            </a:r>
          </a:p>
          <a:p>
            <a:pPr>
              <a:spcBef>
                <a:spcPts val="800"/>
              </a:spcBef>
              <a:defRPr sz="950">
                <a:solidFill>
                  <a:srgbClr val="1E293B"/>
                </a:solidFill>
                <a:latin typeface="Arial"/>
              </a:defRPr>
            </a:pPr>
            <a:r>
              <a:t>• ⚡ Dynamic SLA Speed Bonus: +₹10 auto-reward for beating SLA delivery targets, plus Urgent Rush Delivery (+₹15) prioritizing emergency night orders.</a:t>
            </a:r>
          </a:p>
          <a:p>
            <a:pPr>
              <a:spcBef>
                <a:spcPts val="800"/>
              </a:spcBef>
              <a:defRPr sz="950">
                <a:solidFill>
                  <a:srgbClr val="1E293B"/>
                </a:solidFill>
                <a:latin typeface="Arial"/>
              </a:defRPr>
            </a:pPr>
            <a:r>
              <a:t>• 🏪 Pre-Loaded Campus Stores &amp; Products: 5 campus stores (Stationery, Canteen, Tech, Pharmacy, Night Mart) with 29 active products ready for real demonstrations.</a:t>
            </a:r>
          </a:p>
        </p:txBody>
      </p:sp>
      <p:sp>
        <p:nvSpPr>
          <p:cNvPr id="8" name="Rounded Rectangle 7"/>
          <p:cNvSpPr/>
          <p:nvPr/>
        </p:nvSpPr>
        <p:spPr>
          <a:xfrm>
            <a:off x="6263640" y="1463040"/>
            <a:ext cx="5303520" cy="4480560"/>
          </a:xfrm>
          <a:prstGeom prst="roundRect">
            <a:avLst/>
          </a:prstGeom>
          <a:solidFill>
            <a:srgbClr val="F0F4F8"/>
          </a:solidFill>
          <a:ln w="1905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B04A1B"/>
                </a:solidFill>
                <a:latin typeface="Arial"/>
              </a:defRPr>
            </a:pPr>
            <a:r>
              <a:t>Campus Benefits &amp; Live Demonstration</a:t>
            </a:r>
          </a:p>
          <a:p>
            <a:pPr>
              <a:spcBef>
                <a:spcPts val="800"/>
              </a:spcBef>
              <a:defRPr sz="950">
                <a:solidFill>
                  <a:srgbClr val="1E293B"/>
                </a:solidFill>
                <a:latin typeface="Arial"/>
              </a:defRPr>
            </a:pPr>
            <a:r>
              <a:t>• 100% Zero-Carbon Mobility: Utilizes natural student walking and bicycle traffic; eliminates fuel consumption and campus noise.</a:t>
            </a:r>
          </a:p>
          <a:p>
            <a:pPr>
              <a:spcBef>
                <a:spcPts val="800"/>
              </a:spcBef>
              <a:defRPr sz="950">
                <a:solidFill>
                  <a:srgbClr val="1E293B"/>
                </a:solidFill>
                <a:latin typeface="Arial"/>
              </a:defRPr>
            </a:pPr>
            <a:r>
              <a:t>• Dignified Student Earnings: Commuter students earn ₹200–₹500 daily during regular class walks with zero fixed hours or shifts.</a:t>
            </a:r>
          </a:p>
          <a:p>
            <a:pPr>
              <a:spcBef>
                <a:spcPts val="800"/>
              </a:spcBef>
              <a:defRPr sz="950">
                <a:solidFill>
                  <a:srgbClr val="1E293B"/>
                </a:solidFill>
                <a:latin typeface="Arial"/>
              </a:defRPr>
            </a:pPr>
            <a:r>
              <a:t>• Local Merchant Empowerment: Small campus vendors expand sales radius to all hostels with 0% commission fees.</a:t>
            </a:r>
          </a:p>
          <a:p>
            <a:pPr>
              <a:spcBef>
                <a:spcPts val="1400"/>
              </a:spcBef>
              <a:defRPr sz="1100" b="1">
                <a:solidFill>
                  <a:srgbClr val="282A64"/>
                </a:solidFill>
                <a:latin typeface="Arial"/>
              </a:defRPr>
            </a:pPr>
            <a:r>
              <a:t>🌐 Live Deployed Application Access</a:t>
            </a:r>
          </a:p>
          <a:p>
            <a:pPr>
              <a:spcBef>
                <a:spcPts val="400"/>
              </a:spcBef>
              <a:defRPr sz="900" b="1">
                <a:solidFill>
                  <a:srgbClr val="1E293B"/>
                </a:solidFill>
                <a:latin typeface="Arial"/>
              </a:defRPr>
            </a:pPr>
            <a:r>
              <a:t>✓ Production URL: https://pick4me-l868.onrender.com</a:t>
            </a:r>
          </a:p>
          <a:p>
            <a:pPr>
              <a:spcBef>
                <a:spcPts val="400"/>
              </a:spcBef>
              <a:defRPr sz="900" b="0">
                <a:solidFill>
                  <a:srgbClr val="1E293B"/>
                </a:solidFill>
                <a:latin typeface="Arial"/>
              </a:defRPr>
            </a:pPr>
            <a:r>
              <a:t>✓ Cloud Host: Render Web Service (Gunicorn WSGI)</a:t>
            </a:r>
          </a:p>
          <a:p>
            <a:pPr>
              <a:spcBef>
                <a:spcPts val="400"/>
              </a:spcBef>
              <a:defRPr sz="900" b="0">
                <a:solidFill>
                  <a:srgbClr val="1E293B"/>
                </a:solidFill>
                <a:latin typeface="Arial"/>
              </a:defRPr>
            </a:pPr>
            <a:r>
              <a:t>✓ Database: PostgreSQL 16 on Neon Cloud (24/7 Persistence)</a:t>
            </a:r>
          </a:p>
          <a:p>
            <a:pPr>
              <a:spcBef>
                <a:spcPts val="400"/>
              </a:spcBef>
              <a:defRPr sz="900" b="0">
                <a:solidFill>
                  <a:srgbClr val="1E293B"/>
                </a:solidFill>
                <a:latin typeface="Arial"/>
              </a:defRPr>
            </a:pPr>
            <a:r>
              <a:t>✓ Admin Portal: abhishekkanadje7@gmail.com (Full Platform Oversight)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g_1.png"/>
          <p:cNvPicPr>
            <a:picLocks noChangeAspect="1"/>
          </p:cNvPicPr>
          <p:nvPr/>
        </p:nvPicPr>
        <p:blipFill>
          <a:blip r:embed="rId2"/>
          <a:stretch>
            <a:fillRect/>
          </a:stretch>
        </p:blipFill>
        <p:spPr>
          <a:xfrm>
            <a:off x="10058400" y="256032"/>
            <a:ext cx="1737360" cy="713232"/>
          </a:xfrm>
          <a:prstGeom prst="rect">
            <a:avLst/>
          </a:prstGeom>
        </p:spPr>
      </p:pic>
      <p:sp>
        <p:nvSpPr>
          <p:cNvPr id="3" name="TextBox 2"/>
          <p:cNvSpPr txBox="1"/>
          <p:nvPr/>
        </p:nvSpPr>
        <p:spPr>
          <a:xfrm>
            <a:off x="594360" y="228600"/>
            <a:ext cx="8686800" cy="411480"/>
          </a:xfrm>
          <a:prstGeom prst="rect">
            <a:avLst/>
          </a:prstGeom>
          <a:noFill/>
        </p:spPr>
        <p:txBody>
          <a:bodyPr wrap="square" lIns="0" tIns="0" rIns="0" bIns="0">
            <a:spAutoFit/>
          </a:bodyPr>
          <a:lstStyle/>
          <a:p>
            <a:pPr>
              <a:defRPr sz="1300" b="1">
                <a:solidFill>
                  <a:srgbClr val="282A64"/>
                </a:solidFill>
                <a:latin typeface="Arial"/>
              </a:defRPr>
            </a:pPr>
            <a:r>
              <a:t>Department of Computer Science and Business Systems</a:t>
            </a:r>
          </a:p>
          <a:p>
            <a:pPr>
              <a:defRPr sz="1000" b="1">
                <a:solidFill>
                  <a:srgbClr val="B04A1B"/>
                </a:solidFill>
                <a:latin typeface="Arial"/>
              </a:defRPr>
            </a:pPr>
            <a:r>
              <a:t>Conclusion &amp; Questions</a:t>
            </a:r>
          </a:p>
        </p:txBody>
      </p:sp>
      <p:sp>
        <p:nvSpPr>
          <p:cNvPr id="4" name="TextBox 3"/>
          <p:cNvSpPr txBox="1"/>
          <p:nvPr/>
        </p:nvSpPr>
        <p:spPr>
          <a:xfrm>
            <a:off x="10515600" y="6309360"/>
            <a:ext cx="1097280" cy="365760"/>
          </a:xfrm>
          <a:prstGeom prst="rect">
            <a:avLst/>
          </a:prstGeom>
          <a:noFill/>
        </p:spPr>
        <p:txBody>
          <a:bodyPr wrap="none">
            <a:spAutoFit/>
          </a:bodyPr>
          <a:lstStyle/>
          <a:p>
            <a:pPr algn="r">
              <a:defRPr sz="1200" b="1">
                <a:solidFill>
                  <a:srgbClr val="282A64"/>
                </a:solidFill>
                <a:latin typeface="Arial"/>
              </a:defRPr>
            </a:pPr>
            <a:r>
              <a:t>10</a:t>
            </a:r>
          </a:p>
        </p:txBody>
      </p:sp>
      <p:sp>
        <p:nvSpPr>
          <p:cNvPr id="5" name="Rectangle 4"/>
          <p:cNvSpPr/>
          <p:nvPr/>
        </p:nvSpPr>
        <p:spPr>
          <a:xfrm>
            <a:off x="594360" y="6263640"/>
            <a:ext cx="109728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097280"/>
            <a:ext cx="9445752" cy="2011680"/>
          </a:xfrm>
          <a:prstGeom prst="roundRect">
            <a:avLst/>
          </a:prstGeom>
          <a:solidFill>
            <a:srgbClr val="F0F4F8"/>
          </a:solidFill>
          <a:ln w="25400">
            <a:solidFill>
              <a:srgbClr val="282A64"/>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82880"/>
          <a:lstStyle/>
          <a:p>
            <a:pPr algn="ctr">
              <a:defRPr sz="1400" b="1">
                <a:solidFill>
                  <a:srgbClr val="282A64"/>
                </a:solidFill>
                <a:latin typeface="Arial"/>
              </a:defRPr>
            </a:pPr>
            <a:r>
              <a:t>Project Summary &amp; Value Proposition</a:t>
            </a:r>
          </a:p>
          <a:p>
            <a:pPr>
              <a:spcBef>
                <a:spcPts val="500"/>
              </a:spcBef>
              <a:defRPr sz="1000">
                <a:solidFill>
                  <a:srgbClr val="1E293B"/>
                </a:solidFill>
                <a:latin typeface="Arial"/>
              </a:defRPr>
            </a:pPr>
            <a:r>
              <a:t>• Pick4Me successfully solves high delivery costs, minimum order restrictions, and campus gate barriers.</a:t>
            </a:r>
          </a:p>
          <a:p>
            <a:pPr>
              <a:spcBef>
                <a:spcPts val="500"/>
              </a:spcBef>
              <a:defRPr sz="1000">
                <a:solidFill>
                  <a:srgbClr val="1E293B"/>
                </a:solidFill>
                <a:latin typeface="Arial"/>
              </a:defRPr>
            </a:pPr>
            <a:r>
              <a:t>• Combines local merchant e-commerce storefronts with an advance escrow-protected crowdsourced peer delivery network.</a:t>
            </a:r>
          </a:p>
          <a:p>
            <a:pPr>
              <a:spcBef>
                <a:spcPts val="500"/>
              </a:spcBef>
              <a:defRPr sz="1000">
                <a:solidFill>
                  <a:srgbClr val="1E293B"/>
                </a:solidFill>
                <a:latin typeface="Arial"/>
              </a:defRPr>
            </a:pPr>
            <a:r>
              <a:t>• Fully deployed and functional with live PostgreSQL cloud persistence, in-app calling, and automated OTP settlements.</a:t>
            </a:r>
          </a:p>
          <a:p>
            <a:pPr>
              <a:spcBef>
                <a:spcPts val="500"/>
              </a:spcBef>
              <a:defRPr sz="1000">
                <a:solidFill>
                  <a:srgbClr val="1E293B"/>
                </a:solidFill>
                <a:latin typeface="Arial"/>
              </a:defRPr>
            </a:pPr>
            <a:r>
              <a:t>• Future Scope: AI route optimization, campus bike integration, and expansion across 500+ Indian university campuses.</a:t>
            </a:r>
          </a:p>
        </p:txBody>
      </p:sp>
      <p:sp>
        <p:nvSpPr>
          <p:cNvPr id="7" name="Rounded Rectangle 6"/>
          <p:cNvSpPr/>
          <p:nvPr/>
        </p:nvSpPr>
        <p:spPr>
          <a:xfrm>
            <a:off x="1371600" y="3337560"/>
            <a:ext cx="9445752" cy="2560320"/>
          </a:xfrm>
          <a:prstGeom prst="roundRect">
            <a:avLst/>
          </a:prstGeom>
          <a:solidFill>
            <a:srgbClr val="F0FDFA"/>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282A64"/>
                </a:solidFill>
                <a:latin typeface="Arial"/>
              </a:defRPr>
            </a:pPr>
            <a:r>
              <a:t>Thank You!</a:t>
            </a:r>
          </a:p>
          <a:p>
            <a:pPr algn="ctr">
              <a:spcBef>
                <a:spcPts val="600"/>
              </a:spcBef>
              <a:defRPr sz="1600" b="1">
                <a:solidFill>
                  <a:srgbClr val="B04A1B"/>
                </a:solidFill>
                <a:latin typeface="Arial"/>
              </a:defRPr>
            </a:pPr>
            <a:r>
              <a:t>Questions &amp; Answers</a:t>
            </a:r>
          </a:p>
          <a:p>
            <a:pPr algn="ctr">
              <a:spcBef>
                <a:spcPts val="1200"/>
              </a:spcBef>
              <a:defRPr sz="1000">
                <a:solidFill>
                  <a:srgbClr val="64748B"/>
                </a:solidFill>
                <a:latin typeface="Arial"/>
              </a:defRPr>
            </a:pPr>
            <a:r>
              <a:t>Team Members: Dinesh Ausaramal  |  Abhishek Kanadje  |  Janhavi Alavekar  |  Lakshana Nabar</a:t>
            </a:r>
            <a:br/>
            <a:r>
              <a:t>Guided By: Ms. Pramila Gadyanavar</a:t>
            </a:r>
            <a:br/>
            <a:r>
              <a:t>Department of Computer Science &amp; Business Systems (Second Year – Div A)</a:t>
            </a:r>
            <a:br/>
            <a:r>
              <a:t>Kolhapur Institute of Technology's College of Engineering (Autonomous), Kolhapur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